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72"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8288000" cy="10287000"/>
  <p:notesSz cx="6858000" cy="9144000"/>
  <p:embeddedFontLst>
    <p:embeddedFont>
      <p:font typeface="Helvetica World Bold" panose="020B0604020202020204" charset="-128"/>
      <p:regular r:id="rId20"/>
    </p:embeddedFont>
    <p:embeddedFont>
      <p:font typeface="Helvetica World Italics" panose="020B0604020202020204" charset="-128"/>
      <p:regular r:id="rId21"/>
    </p:embeddedFont>
    <p:embeddedFont>
      <p:font typeface="Arimo" panose="020B0604020202020204" charset="0"/>
      <p:regular r:id="rId22"/>
    </p:embeddedFont>
    <p:embeddedFont>
      <p:font typeface="Bookman Old Style" panose="02050604050505020204" pitchFamily="18" charset="0"/>
      <p:regular r:id="rId23"/>
      <p:bold r:id="rId24"/>
      <p:italic r:id="rId25"/>
      <p:boldItalic r:id="rId26"/>
    </p:embeddedFont>
    <p:embeddedFont>
      <p:font typeface="Franklin Gothic" panose="020B0604020202020204" charset="0"/>
      <p:bold r:id="rId27"/>
    </p:embeddedFont>
    <p:embeddedFont>
      <p:font typeface="Garet" panose="020B0604020202020204" charset="0"/>
      <p:regular r:id="rId28"/>
    </p:embeddedFont>
    <p:embeddedFont>
      <p:font typeface="Garet Bold" panose="020B0604020202020204" charset="0"/>
      <p:regular r:id="rId29"/>
    </p:embeddedFont>
    <p:embeddedFont>
      <p:font typeface="League Spartan" panose="020B0604020202020204" charset="0"/>
      <p:regular r:id="rId30"/>
    </p:embeddedFont>
    <p:embeddedFont>
      <p:font typeface="Libre Franklin" pitchFamily="2" charset="0"/>
      <p:regular r:id="rId31"/>
      <p:bold r:id="rId32"/>
      <p:boldItalic r:id="rId33"/>
    </p:embeddedFont>
    <p:embeddedFont>
      <p:font typeface="Open Sans" panose="020B0606030504020204" pitchFamily="34" charset="0"/>
      <p:regular r:id="rId34"/>
    </p:embeddedFont>
    <p:embeddedFont>
      <p:font typeface="Open Sans Semi-Bold" panose="020B0604020202020204" charset="0"/>
      <p:regular r:id="rId35"/>
    </p:embeddedFont>
    <p:embeddedFont>
      <p:font typeface="Open Sauce Italics" panose="020B0604020202020204" charset="0"/>
      <p:regular r:id="rId36"/>
    </p:embeddedFont>
    <p:embeddedFont>
      <p:font typeface="Poppins" panose="00000500000000000000" pitchFamily="2" charset="0"/>
      <p:regular r:id="rId37"/>
    </p:embeddedFont>
    <p:embeddedFont>
      <p:font typeface="TT Firs Neue" panose="020B0604020202020204" charset="0"/>
      <p:regular r:id="rId38"/>
    </p:embeddedFont>
    <p:embeddedFont>
      <p:font typeface="TT Firs Neue Bold" panose="020B0604020202020204" charset="0"/>
      <p:regular r:id="rId39"/>
    </p:embeddedFont>
    <p:embeddedFont>
      <p:font typeface="TT Firs Neue Bold Italics"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0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6914C2-FAEF-4BA4-A18E-E117352415C6}" type="datetimeFigureOut">
              <a:rPr lang="en-IN" smtClean="0"/>
              <a:t>20-05-2026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39E5C4-1EEC-4B8E-AE22-238E2D3DBB1E}" type="slidenum">
              <a:rPr lang="en-IN" smtClean="0"/>
              <a:t>‹#›</a:t>
            </a:fld>
            <a:endParaRPr lang="en-IN"/>
          </a:p>
        </p:txBody>
      </p:sp>
    </p:spTree>
    <p:extLst>
      <p:ext uri="{BB962C8B-B14F-4D97-AF65-F5344CB8AC3E}">
        <p14:creationId xmlns:p14="http://schemas.microsoft.com/office/powerpoint/2010/main" val="267219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069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9550582" y="3174274"/>
            <a:ext cx="8237357" cy="227102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6000"/>
              <a:buFont typeface="Franklin Gothic"/>
              <a:buNone/>
              <a:defRPr sz="90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7" name="Google Shape;17;p7"/>
          <p:cNvGrpSpPr/>
          <p:nvPr/>
        </p:nvGrpSpPr>
        <p:grpSpPr>
          <a:xfrm>
            <a:off x="2" y="1138128"/>
            <a:ext cx="9148872" cy="9148872"/>
            <a:chOff x="0" y="12289"/>
            <a:chExt cx="3550" cy="3551"/>
          </a:xfrm>
        </p:grpSpPr>
        <p:sp>
          <p:nvSpPr>
            <p:cNvPr id="18" name="Google Shape;18;p7"/>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a:solidFill>
                  <a:schemeClr val="lt1"/>
                </a:solidFill>
                <a:latin typeface="Libre Franklin"/>
                <a:ea typeface="Libre Franklin"/>
                <a:cs typeface="Libre Franklin"/>
                <a:sym typeface="Libre Franklin"/>
              </a:endParaRPr>
            </a:p>
          </p:txBody>
        </p:sp>
        <p:sp>
          <p:nvSpPr>
            <p:cNvPr id="19" name="Google Shape;19;p7"/>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a:solidFill>
                  <a:schemeClr val="lt1"/>
                </a:solidFill>
                <a:latin typeface="Libre Franklin"/>
                <a:ea typeface="Libre Franklin"/>
                <a:cs typeface="Libre Franklin"/>
                <a:sym typeface="Libre Franklin"/>
              </a:endParaRPr>
            </a:p>
          </p:txBody>
        </p:sp>
        <p:sp>
          <p:nvSpPr>
            <p:cNvPr id="20" name="Google Shape;20;p7"/>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a:solidFill>
                  <a:schemeClr val="lt1"/>
                </a:solidFill>
                <a:latin typeface="Libre Franklin"/>
                <a:ea typeface="Libre Franklin"/>
                <a:cs typeface="Libre Franklin"/>
                <a:sym typeface="Libre Franklin"/>
              </a:endParaRPr>
            </a:p>
          </p:txBody>
        </p:sp>
      </p:grpSp>
      <p:sp>
        <p:nvSpPr>
          <p:cNvPr id="21" name="Google Shape;21;p7"/>
          <p:cNvSpPr txBox="1">
            <a:spLocks noGrp="1"/>
          </p:cNvSpPr>
          <p:nvPr>
            <p:ph type="body" idx="1"/>
          </p:nvPr>
        </p:nvSpPr>
        <p:spPr>
          <a:xfrm>
            <a:off x="9550583" y="6824330"/>
            <a:ext cx="8237355" cy="1430006"/>
          </a:xfrm>
          <a:prstGeom prst="rect">
            <a:avLst/>
          </a:prstGeom>
          <a:noFill/>
          <a:ln>
            <a:noFill/>
          </a:ln>
        </p:spPr>
        <p:txBody>
          <a:bodyPr spcFirstLastPara="1" wrap="square" lIns="0" tIns="0" rIns="0" bIns="0" anchor="t" anchorCtr="0">
            <a:noAutofit/>
          </a:bodyPr>
          <a:lstStyle>
            <a:lvl1pPr marL="685800" lvl="0" indent="-342900" algn="l">
              <a:lnSpc>
                <a:spcPct val="90000"/>
              </a:lnSpc>
              <a:spcBef>
                <a:spcPts val="1500"/>
              </a:spcBef>
              <a:spcAft>
                <a:spcPts val="0"/>
              </a:spcAft>
              <a:buClr>
                <a:schemeClr val="lt2"/>
              </a:buClr>
              <a:buSzPts val="1800"/>
              <a:buNone/>
              <a:defRPr sz="2700" b="0" i="0">
                <a:solidFill>
                  <a:schemeClr val="lt2"/>
                </a:solidFill>
                <a:latin typeface="Libre Franklin"/>
                <a:ea typeface="Libre Franklin"/>
                <a:cs typeface="Libre Franklin"/>
                <a:sym typeface="Libre Franklin"/>
              </a:defRPr>
            </a:lvl1pPr>
            <a:lvl2pPr marL="1371600" lvl="1" indent="-723900" algn="l">
              <a:lnSpc>
                <a:spcPct val="90000"/>
              </a:lnSpc>
              <a:spcBef>
                <a:spcPts val="750"/>
              </a:spcBef>
              <a:spcAft>
                <a:spcPts val="0"/>
              </a:spcAft>
              <a:buClr>
                <a:schemeClr val="dk1"/>
              </a:buClr>
              <a:buSzPts val="4000"/>
              <a:buChar char="•"/>
              <a:defRPr sz="6000"/>
            </a:lvl2pPr>
            <a:lvl3pPr marL="2057400" lvl="2" indent="-723900" algn="l">
              <a:lnSpc>
                <a:spcPct val="90000"/>
              </a:lnSpc>
              <a:spcBef>
                <a:spcPts val="750"/>
              </a:spcBef>
              <a:spcAft>
                <a:spcPts val="0"/>
              </a:spcAft>
              <a:buClr>
                <a:schemeClr val="dk1"/>
              </a:buClr>
              <a:buSzPts val="4000"/>
              <a:buChar char="•"/>
              <a:defRPr sz="6000"/>
            </a:lvl3pPr>
            <a:lvl4pPr marL="2743200" lvl="3" indent="-723900" algn="l">
              <a:lnSpc>
                <a:spcPct val="90000"/>
              </a:lnSpc>
              <a:spcBef>
                <a:spcPts val="750"/>
              </a:spcBef>
              <a:spcAft>
                <a:spcPts val="0"/>
              </a:spcAft>
              <a:buClr>
                <a:schemeClr val="dk1"/>
              </a:buClr>
              <a:buSzPts val="4000"/>
              <a:buChar char="•"/>
              <a:defRPr sz="6000"/>
            </a:lvl4pPr>
            <a:lvl5pPr marL="3429000" lvl="4" indent="-723900" algn="l">
              <a:lnSpc>
                <a:spcPct val="90000"/>
              </a:lnSpc>
              <a:spcBef>
                <a:spcPts val="750"/>
              </a:spcBef>
              <a:spcAft>
                <a:spcPts val="0"/>
              </a:spcAft>
              <a:buClr>
                <a:schemeClr val="dk1"/>
              </a:buClr>
              <a:buSzPts val="4000"/>
              <a:buChar char="•"/>
              <a:defRPr sz="6000"/>
            </a:lvl5pPr>
            <a:lvl6pPr marL="4114800" lvl="5" indent="-514350" algn="l">
              <a:lnSpc>
                <a:spcPct val="90000"/>
              </a:lnSpc>
              <a:spcBef>
                <a:spcPts val="750"/>
              </a:spcBef>
              <a:spcAft>
                <a:spcPts val="0"/>
              </a:spcAft>
              <a:buClr>
                <a:schemeClr val="lt1"/>
              </a:buClr>
              <a:buSzPts val="1800"/>
              <a:buChar char="•"/>
              <a:defRPr/>
            </a:lvl6pPr>
            <a:lvl7pPr marL="4800600" lvl="6" indent="-514350" algn="l">
              <a:lnSpc>
                <a:spcPct val="90000"/>
              </a:lnSpc>
              <a:spcBef>
                <a:spcPts val="750"/>
              </a:spcBef>
              <a:spcAft>
                <a:spcPts val="0"/>
              </a:spcAft>
              <a:buClr>
                <a:schemeClr val="lt1"/>
              </a:buClr>
              <a:buSzPts val="1800"/>
              <a:buChar char="•"/>
              <a:defRPr/>
            </a:lvl7pPr>
            <a:lvl8pPr marL="5486400" lvl="7" indent="-514350" algn="l">
              <a:lnSpc>
                <a:spcPct val="90000"/>
              </a:lnSpc>
              <a:spcBef>
                <a:spcPts val="750"/>
              </a:spcBef>
              <a:spcAft>
                <a:spcPts val="0"/>
              </a:spcAft>
              <a:buClr>
                <a:schemeClr val="lt1"/>
              </a:buClr>
              <a:buSzPts val="1800"/>
              <a:buChar char="•"/>
              <a:defRPr/>
            </a:lvl8pPr>
            <a:lvl9pPr marL="6172200" lvl="8" indent="-514350" algn="l">
              <a:lnSpc>
                <a:spcPct val="90000"/>
              </a:lnSpc>
              <a:spcBef>
                <a:spcPts val="750"/>
              </a:spcBef>
              <a:spcAft>
                <a:spcPts val="0"/>
              </a:spcAft>
              <a:buClr>
                <a:schemeClr val="lt1"/>
              </a:buClr>
              <a:buSzPts val="1800"/>
              <a:buChar char="•"/>
              <a:defRPr/>
            </a:lvl9pPr>
          </a:lstStyle>
          <a:p>
            <a:endParaRPr/>
          </a:p>
        </p:txBody>
      </p:sp>
      <p:cxnSp>
        <p:nvCxnSpPr>
          <p:cNvPr id="22" name="Google Shape;22;p7"/>
          <p:cNvCxnSpPr/>
          <p:nvPr/>
        </p:nvCxnSpPr>
        <p:spPr>
          <a:xfrm>
            <a:off x="8759750" y="8676524"/>
            <a:ext cx="3200400" cy="5988"/>
          </a:xfrm>
          <a:prstGeom prst="straightConnector1">
            <a:avLst/>
          </a:prstGeom>
          <a:noFill/>
          <a:ln w="101600" cap="flat" cmpd="sng">
            <a:solidFill>
              <a:schemeClr val="lt2"/>
            </a:solidFill>
            <a:prstDash val="solid"/>
            <a:miter lim="800000"/>
            <a:headEnd type="none" w="sm" len="sm"/>
            <a:tailEnd type="none" w="sm" len="sm"/>
          </a:ln>
        </p:spPr>
      </p:cxnSp>
    </p:spTree>
    <p:extLst>
      <p:ext uri="{BB962C8B-B14F-4D97-AF65-F5344CB8AC3E}">
        <p14:creationId xmlns:p14="http://schemas.microsoft.com/office/powerpoint/2010/main" val="976481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jpe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Grid">
          <a:fgClr>
            <a:schemeClr val="lt1"/>
          </a:fgClr>
          <a:bgClr>
            <a:schemeClr val="bg1"/>
          </a:bgClr>
        </a:pattFill>
        <a:effectLst/>
      </p:bgPr>
    </p:bg>
    <p:spTree>
      <p:nvGrpSpPr>
        <p:cNvPr id="1" name="Shape 209"/>
        <p:cNvGrpSpPr/>
        <p:nvPr/>
      </p:nvGrpSpPr>
      <p:grpSpPr>
        <a:xfrm>
          <a:off x="0" y="0"/>
          <a:ext cx="0" cy="0"/>
          <a:chOff x="0" y="0"/>
          <a:chExt cx="0" cy="0"/>
        </a:xfrm>
      </p:grpSpPr>
      <p:sp>
        <p:nvSpPr>
          <p:cNvPr id="211" name="Google Shape;211;p1"/>
          <p:cNvSpPr txBox="1">
            <a:spLocks noGrp="1"/>
          </p:cNvSpPr>
          <p:nvPr>
            <p:ph type="body" idx="1"/>
          </p:nvPr>
        </p:nvSpPr>
        <p:spPr>
          <a:xfrm>
            <a:off x="1981200" y="114300"/>
            <a:ext cx="15866513" cy="6096000"/>
          </a:xfrm>
          <a:prstGeom prst="rect">
            <a:avLst/>
          </a:prstGeom>
          <a:noFill/>
          <a:ln>
            <a:noFill/>
          </a:ln>
        </p:spPr>
        <p:txBody>
          <a:bodyPr spcFirstLastPara="1" vert="horz" wrap="square" lIns="0" tIns="0" rIns="0" bIns="0" rtlCol="0" anchor="t" anchorCtr="0">
            <a:noAutofit/>
          </a:bodyPr>
          <a:lstStyle/>
          <a:p>
            <a:pPr algn="ctr"/>
            <a:r>
              <a:rPr lang="en-US" dirty="0">
                <a:latin typeface="Franklin Gothic"/>
                <a:ea typeface="Franklin Gothic"/>
                <a:cs typeface="Franklin Gothic"/>
                <a:sym typeface="Franklin Gothic"/>
              </a:rPr>
              <a:t> </a:t>
            </a:r>
            <a:br>
              <a:rPr lang="en-US" dirty="0">
                <a:latin typeface="Franklin Gothic"/>
                <a:ea typeface="Franklin Gothic"/>
                <a:cs typeface="Franklin Gothic"/>
                <a:sym typeface="Franklin Gothic"/>
              </a:rPr>
            </a:br>
            <a:br>
              <a:rPr lang="en-US" dirty="0">
                <a:latin typeface="Franklin Gothic"/>
                <a:ea typeface="Franklin Gothic"/>
                <a:cs typeface="Franklin Gothic"/>
                <a:sym typeface="Franklin Gothic"/>
              </a:rPr>
            </a:br>
            <a:r>
              <a:rPr lang="en-US" dirty="0">
                <a:latin typeface="Franklin Gothic"/>
                <a:ea typeface="Franklin Gothic"/>
                <a:cs typeface="Franklin Gothic"/>
                <a:sym typeface="Franklin Gothic"/>
              </a:rPr>
              <a:t> </a:t>
            </a:r>
            <a:r>
              <a:rPr lang="en-IN" sz="4200" b="1" dirty="0">
                <a:solidFill>
                  <a:schemeClr val="tx1"/>
                </a:solidFill>
              </a:rPr>
              <a:t>Government College of Engineering </a:t>
            </a:r>
            <a:r>
              <a:rPr lang="en-IN" sz="4200" b="1" dirty="0" err="1">
                <a:solidFill>
                  <a:schemeClr val="tx1"/>
                </a:solidFill>
              </a:rPr>
              <a:t>Karad</a:t>
            </a:r>
            <a:endParaRPr lang="en-IN" sz="4200" dirty="0">
              <a:solidFill>
                <a:schemeClr val="tx1"/>
              </a:solidFill>
            </a:endParaRPr>
          </a:p>
          <a:p>
            <a:pPr algn="ctr"/>
            <a:r>
              <a:rPr lang="en-IN" b="1" i="1" dirty="0">
                <a:solidFill>
                  <a:schemeClr val="tx1"/>
                </a:solidFill>
              </a:rPr>
              <a:t>(An Autonomous Institute of Government of Maharashtra)</a:t>
            </a:r>
            <a:endParaRPr lang="en-IN" dirty="0">
              <a:solidFill>
                <a:schemeClr val="tx1"/>
              </a:solidFill>
            </a:endParaRPr>
          </a:p>
          <a:p>
            <a:pPr marL="0" indent="0" algn="ctr"/>
            <a:endParaRPr lang="en-US" dirty="0">
              <a:solidFill>
                <a:srgbClr val="4609F3"/>
              </a:solidFill>
              <a:latin typeface="Franklin Gothic"/>
              <a:ea typeface="Franklin Gothic"/>
              <a:cs typeface="Franklin Gothic"/>
              <a:sym typeface="Franklin Gothic"/>
            </a:endParaRPr>
          </a:p>
          <a:p>
            <a:pPr marL="0" indent="0" algn="ctr"/>
            <a:r>
              <a:rPr lang="en-US" sz="4200" dirty="0">
                <a:solidFill>
                  <a:schemeClr val="tx1"/>
                </a:solidFill>
                <a:latin typeface="Franklin Gothic"/>
                <a:ea typeface="Franklin Gothic"/>
                <a:cs typeface="Franklin Gothic"/>
                <a:sym typeface="Franklin Gothic"/>
              </a:rPr>
              <a:t>Information Technology Department</a:t>
            </a:r>
          </a:p>
          <a:p>
            <a:pPr marL="0" indent="0" algn="ctr"/>
            <a:endParaRPr lang="en-US" sz="4200" dirty="0">
              <a:solidFill>
                <a:schemeClr val="tx1"/>
              </a:solidFill>
              <a:latin typeface="Franklin Gothic"/>
              <a:ea typeface="Franklin Gothic"/>
              <a:cs typeface="Franklin Gothic"/>
              <a:sym typeface="Franklin Gothic"/>
            </a:endParaRPr>
          </a:p>
          <a:p>
            <a:pPr marL="0" indent="0" algn="ctr"/>
            <a:r>
              <a:rPr lang="mr-IN" sz="4400" b="1" dirty="0">
                <a:solidFill>
                  <a:srgbClr val="0320F3"/>
                </a:solidFill>
                <a:latin typeface="Bookman Old Style" panose="02050604050505020204" pitchFamily="18" charset="0"/>
              </a:rPr>
              <a:t>F</a:t>
            </a:r>
            <a:r>
              <a:rPr lang="en-US" sz="4400" b="1" dirty="0" err="1">
                <a:solidFill>
                  <a:srgbClr val="0320F3"/>
                </a:solidFill>
                <a:latin typeface="Bookman Old Style" panose="02050604050505020204" pitchFamily="18" charset="0"/>
              </a:rPr>
              <a:t>i</a:t>
            </a:r>
            <a:r>
              <a:rPr lang="mr-IN" sz="4400" b="1" dirty="0">
                <a:solidFill>
                  <a:srgbClr val="0320F3"/>
                </a:solidFill>
                <a:latin typeface="Bookman Old Style" panose="02050604050505020204" pitchFamily="18" charset="0"/>
              </a:rPr>
              <a:t>nal Year B.Tech.</a:t>
            </a:r>
            <a:r>
              <a:rPr lang="en-US" sz="4400" b="1" dirty="0">
                <a:solidFill>
                  <a:srgbClr val="0320F3"/>
                </a:solidFill>
                <a:latin typeface="Bookman Old Style" panose="02050604050505020204" pitchFamily="18" charset="0"/>
              </a:rPr>
              <a:t> I.T.</a:t>
            </a:r>
            <a:r>
              <a:rPr lang="mr-IN" sz="4400" b="1" dirty="0">
                <a:solidFill>
                  <a:srgbClr val="0320F3"/>
                </a:solidFill>
                <a:latin typeface="Bookman Old Style" panose="02050604050505020204" pitchFamily="18" charset="0"/>
              </a:rPr>
              <a:t>[Summer-202</a:t>
            </a:r>
            <a:r>
              <a:rPr lang="en-IN" sz="4400" b="1" dirty="0">
                <a:solidFill>
                  <a:srgbClr val="0320F3"/>
                </a:solidFill>
                <a:latin typeface="Bookman Old Style" panose="02050604050505020204" pitchFamily="18" charset="0"/>
              </a:rPr>
              <a:t>6</a:t>
            </a:r>
            <a:r>
              <a:rPr lang="mr-IN" sz="4400" b="1" dirty="0">
                <a:solidFill>
                  <a:srgbClr val="0320F3"/>
                </a:solidFill>
                <a:latin typeface="Bookman Old Style" panose="02050604050505020204" pitchFamily="18" charset="0"/>
              </a:rPr>
              <a:t>]</a:t>
            </a:r>
            <a:endParaRPr lang="en-US" sz="4200" b="1" dirty="0">
              <a:solidFill>
                <a:srgbClr val="0320F3"/>
              </a:solidFill>
            </a:endParaRPr>
          </a:p>
          <a:p>
            <a:pPr marL="0" indent="0" algn="ctr"/>
            <a:endParaRPr lang="en-US" sz="4200" dirty="0">
              <a:solidFill>
                <a:srgbClr val="4609F3"/>
              </a:solidFill>
              <a:latin typeface="Franklin Gothic"/>
              <a:ea typeface="Franklin Gothic"/>
              <a:cs typeface="Franklin Gothic"/>
              <a:sym typeface="Franklin Gothic"/>
            </a:endParaRPr>
          </a:p>
          <a:p>
            <a:pPr marL="0" indent="0"/>
            <a:r>
              <a:rPr lang="en-US" sz="4200" dirty="0">
                <a:solidFill>
                  <a:srgbClr val="4609F3"/>
                </a:solidFill>
                <a:latin typeface="Franklin Gothic"/>
                <a:ea typeface="Franklin Gothic"/>
                <a:cs typeface="Franklin Gothic"/>
                <a:sym typeface="Franklin Gothic"/>
              </a:rPr>
              <a:t>					  </a:t>
            </a:r>
            <a:r>
              <a:rPr lang="en-US" sz="4400" b="1" dirty="0">
                <a:solidFill>
                  <a:srgbClr val="0320F3"/>
                </a:solidFill>
                <a:latin typeface="Bookman Old Style" panose="02050604050505020204" pitchFamily="18" charset="0"/>
                <a:sym typeface="Franklin Gothic"/>
              </a:rPr>
              <a:t>Project Presentation</a:t>
            </a:r>
            <a:br>
              <a:rPr lang="en-US" sz="4400" b="1" dirty="0">
                <a:solidFill>
                  <a:srgbClr val="0320F3"/>
                </a:solidFill>
                <a:latin typeface="Bookman Old Style" panose="02050604050505020204" pitchFamily="18" charset="0"/>
                <a:sym typeface="Franklin Gothic"/>
              </a:rPr>
            </a:br>
            <a:endParaRPr lang="en-US" sz="4400" b="1" dirty="0">
              <a:solidFill>
                <a:srgbClr val="0320F3"/>
              </a:solidFill>
              <a:latin typeface="Bookman Old Style" panose="02050604050505020204" pitchFamily="18" charset="0"/>
            </a:endParaRPr>
          </a:p>
        </p:txBody>
      </p:sp>
      <p:pic>
        <p:nvPicPr>
          <p:cNvPr id="3" name="image1.png"/>
          <p:cNvPicPr/>
          <p:nvPr/>
        </p:nvPicPr>
        <p:blipFill>
          <a:blip r:embed="rId3" cstate="print"/>
          <a:stretch>
            <a:fillRect/>
          </a:stretch>
        </p:blipFill>
        <p:spPr>
          <a:xfrm>
            <a:off x="1634498" y="609600"/>
            <a:ext cx="2644076" cy="2047071"/>
          </a:xfrm>
          <a:prstGeom prst="rect">
            <a:avLst/>
          </a:prstGeom>
        </p:spPr>
      </p:pic>
      <p:sp>
        <p:nvSpPr>
          <p:cNvPr id="2" name="TextBox 1">
            <a:extLst>
              <a:ext uri="{FF2B5EF4-FFF2-40B4-BE49-F238E27FC236}">
                <a16:creationId xmlns:a16="http://schemas.microsoft.com/office/drawing/2014/main" id="{38F7796D-69E3-BA68-E14A-C3A81BDC48A0}"/>
              </a:ext>
            </a:extLst>
          </p:cNvPr>
          <p:cNvSpPr txBox="1"/>
          <p:nvPr/>
        </p:nvSpPr>
        <p:spPr>
          <a:xfrm>
            <a:off x="8668512" y="8115300"/>
            <a:ext cx="9619488" cy="1754326"/>
          </a:xfrm>
          <a:prstGeom prst="rect">
            <a:avLst/>
          </a:prstGeom>
          <a:noFill/>
        </p:spPr>
        <p:txBody>
          <a:bodyPr wrap="square" rtlCol="0">
            <a:spAutoFit/>
          </a:bodyPr>
          <a:lstStyle/>
          <a:p>
            <a:r>
              <a:rPr lang="en-US" sz="2400" b="1" dirty="0">
                <a:solidFill>
                  <a:srgbClr val="4609F3"/>
                </a:solidFill>
                <a:latin typeface="Times New Roman" panose="02020603050405020304" pitchFamily="18" charset="0"/>
                <a:ea typeface="Franklin Gothic"/>
                <a:cs typeface="Times New Roman" panose="02020603050405020304" pitchFamily="18" charset="0"/>
                <a:sym typeface="Franklin Gothic"/>
              </a:rPr>
              <a:t>Student Name &amp; Roll No. :         </a:t>
            </a:r>
            <a:r>
              <a:rPr lang="en-US" sz="2100" b="1" dirty="0">
                <a:solidFill>
                  <a:schemeClr val="tx1">
                    <a:lumMod val="95000"/>
                    <a:lumOff val="5000"/>
                  </a:schemeClr>
                </a:solidFill>
                <a:latin typeface="Times New Roman" panose="02020603050405020304" pitchFamily="18" charset="0"/>
                <a:ea typeface="Franklin Gothic"/>
                <a:cs typeface="Times New Roman" panose="02020603050405020304" pitchFamily="18" charset="0"/>
                <a:sym typeface="Franklin Gothic"/>
              </a:rPr>
              <a:t>1</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 Soham Sunil </a:t>
            </a:r>
            <a:r>
              <a:rPr lang="en-US" sz="2100" b="1" dirty="0" err="1">
                <a:solidFill>
                  <a:schemeClr val="tx1">
                    <a:lumMod val="95000"/>
                    <a:lumOff val="5000"/>
                  </a:schemeClr>
                </a:solidFill>
                <a:latin typeface="Times New Roman" panose="02020603050405020304" pitchFamily="18" charset="0"/>
                <a:cs typeface="Times New Roman" panose="02020603050405020304" pitchFamily="18" charset="0"/>
              </a:rPr>
              <a:t>Malvadkar</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 (22141229)</a:t>
            </a:r>
          </a:p>
          <a:p>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	                                                  2) Sanket Nivas Chopade (22141234)</a:t>
            </a:r>
          </a:p>
          <a:p>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		                                    3) Abhijeet Vilas </a:t>
            </a:r>
            <a:r>
              <a:rPr lang="en-US" sz="2100" b="1" dirty="0" err="1">
                <a:solidFill>
                  <a:schemeClr val="tx1">
                    <a:lumMod val="95000"/>
                    <a:lumOff val="5000"/>
                  </a:schemeClr>
                </a:solidFill>
                <a:latin typeface="Times New Roman" panose="02020603050405020304" pitchFamily="18" charset="0"/>
                <a:cs typeface="Times New Roman" panose="02020603050405020304" pitchFamily="18" charset="0"/>
              </a:rPr>
              <a:t>Ganjave</a:t>
            </a:r>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 (22141236)</a:t>
            </a:r>
          </a:p>
          <a:p>
            <a:r>
              <a:rPr lang="en-US" sz="2100" b="1" dirty="0">
                <a:solidFill>
                  <a:schemeClr val="tx1">
                    <a:lumMod val="95000"/>
                    <a:lumOff val="5000"/>
                  </a:schemeClr>
                </a:solidFill>
                <a:latin typeface="Times New Roman" panose="02020603050405020304" pitchFamily="18" charset="0"/>
                <a:cs typeface="Times New Roman" panose="02020603050405020304" pitchFamily="18" charset="0"/>
              </a:rPr>
              <a:t>		                                    4) Akash Anada Khot (22141244)		                                               				         5) Sanket Nandkumar Adake (21143248)</a:t>
            </a:r>
            <a:r>
              <a:rPr lang="en-US" sz="2100" dirty="0">
                <a:solidFill>
                  <a:srgbClr val="4609F3"/>
                </a:solidFill>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69CE909-341C-3300-6039-D520EA44C334}"/>
              </a:ext>
            </a:extLst>
          </p:cNvPr>
          <p:cNvSpPr txBox="1"/>
          <p:nvPr/>
        </p:nvSpPr>
        <p:spPr>
          <a:xfrm>
            <a:off x="8668512" y="7353300"/>
            <a:ext cx="5932318" cy="461665"/>
          </a:xfrm>
          <a:prstGeom prst="rect">
            <a:avLst/>
          </a:prstGeom>
          <a:noFill/>
        </p:spPr>
        <p:txBody>
          <a:bodyPr wrap="square">
            <a:spAutoFit/>
          </a:bodyPr>
          <a:lstStyle/>
          <a:p>
            <a:r>
              <a:rPr lang="en-US" sz="2400" b="1" dirty="0">
                <a:solidFill>
                  <a:srgbClr val="4609F3"/>
                </a:solidFill>
                <a:latin typeface="Times New Roman" panose="02020603050405020304" pitchFamily="18" charset="0"/>
                <a:ea typeface="Franklin Gothic"/>
                <a:cs typeface="Times New Roman" panose="02020603050405020304" pitchFamily="18" charset="0"/>
                <a:sym typeface="Franklin Gothic"/>
              </a:rPr>
              <a:t>Guide Name :   </a:t>
            </a:r>
            <a:r>
              <a:rPr lang="en-US" sz="2400" b="1" dirty="0">
                <a:solidFill>
                  <a:schemeClr val="tx1"/>
                </a:solidFill>
                <a:latin typeface="Times New Roman" panose="02020603050405020304" pitchFamily="18" charset="0"/>
                <a:ea typeface="Franklin Gothic"/>
                <a:cs typeface="Times New Roman" panose="02020603050405020304" pitchFamily="18" charset="0"/>
                <a:sym typeface="Franklin Gothic"/>
              </a:rPr>
              <a:t>Dr. S. A. Thorat</a:t>
            </a:r>
            <a:endParaRPr lang="en-IN"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13405" r="-119513"/>
              </a:stretch>
            </a:blipFill>
          </p:spPr>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7109187"/>
            <a:ext cx="11842469" cy="3177813"/>
            <a:chOff x="0" y="0"/>
            <a:chExt cx="9357013" cy="2510865"/>
          </a:xfrm>
        </p:grpSpPr>
        <p:sp>
          <p:nvSpPr>
            <p:cNvPr id="8" name="Freeform 8"/>
            <p:cNvSpPr/>
            <p:nvPr/>
          </p:nvSpPr>
          <p:spPr>
            <a:xfrm>
              <a:off x="0" y="0"/>
              <a:ext cx="9357013" cy="2510865"/>
            </a:xfrm>
            <a:custGeom>
              <a:avLst/>
              <a:gdLst/>
              <a:ahLst/>
              <a:cxnLst/>
              <a:rect l="l" t="t" r="r" b="b"/>
              <a:pathLst>
                <a:path w="9357013" h="2510865">
                  <a:moveTo>
                    <a:pt x="0" y="0"/>
                  </a:moveTo>
                  <a:lnTo>
                    <a:pt x="9357013" y="0"/>
                  </a:lnTo>
                  <a:lnTo>
                    <a:pt x="9357013" y="2510865"/>
                  </a:lnTo>
                  <a:lnTo>
                    <a:pt x="0" y="2510865"/>
                  </a:lnTo>
                  <a:close/>
                </a:path>
              </a:pathLst>
            </a:custGeom>
            <a:solidFill>
              <a:srgbClr val="F6F6F6"/>
            </a:solidFill>
          </p:spPr>
        </p:sp>
        <p:sp>
          <p:nvSpPr>
            <p:cNvPr id="9" name="TextBox 9"/>
            <p:cNvSpPr txBox="1"/>
            <p:nvPr/>
          </p:nvSpPr>
          <p:spPr>
            <a:xfrm>
              <a:off x="0" y="-38100"/>
              <a:ext cx="9357013" cy="25489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624423" y="5465412"/>
            <a:ext cx="6860070" cy="545802"/>
            <a:chOff x="0" y="0"/>
            <a:chExt cx="1806767" cy="143750"/>
          </a:xfrm>
        </p:grpSpPr>
        <p:sp>
          <p:nvSpPr>
            <p:cNvPr id="17" name="Freeform 17"/>
            <p:cNvSpPr/>
            <p:nvPr/>
          </p:nvSpPr>
          <p:spPr>
            <a:xfrm>
              <a:off x="0" y="0"/>
              <a:ext cx="1806767" cy="143750"/>
            </a:xfrm>
            <a:custGeom>
              <a:avLst/>
              <a:gdLst/>
              <a:ahLst/>
              <a:cxnLst/>
              <a:rect l="l" t="t" r="r" b="b"/>
              <a:pathLst>
                <a:path w="1806767" h="143750">
                  <a:moveTo>
                    <a:pt x="57556" y="0"/>
                  </a:moveTo>
                  <a:lnTo>
                    <a:pt x="1749211" y="0"/>
                  </a:lnTo>
                  <a:cubicBezTo>
                    <a:pt x="1780999" y="0"/>
                    <a:pt x="1806767" y="25769"/>
                    <a:pt x="1806767" y="57556"/>
                  </a:cubicBezTo>
                  <a:lnTo>
                    <a:pt x="1806767" y="86194"/>
                  </a:lnTo>
                  <a:cubicBezTo>
                    <a:pt x="1806767" y="117982"/>
                    <a:pt x="1780999" y="143750"/>
                    <a:pt x="1749211" y="143750"/>
                  </a:cubicBezTo>
                  <a:lnTo>
                    <a:pt x="57556" y="143750"/>
                  </a:lnTo>
                  <a:cubicBezTo>
                    <a:pt x="25769" y="143750"/>
                    <a:pt x="0" y="117982"/>
                    <a:pt x="0" y="86194"/>
                  </a:cubicBezTo>
                  <a:lnTo>
                    <a:pt x="0" y="57556"/>
                  </a:lnTo>
                  <a:cubicBezTo>
                    <a:pt x="0" y="25769"/>
                    <a:pt x="25769" y="0"/>
                    <a:pt x="57556" y="0"/>
                  </a:cubicBezTo>
                  <a:close/>
                </a:path>
              </a:pathLst>
            </a:custGeom>
            <a:solidFill>
              <a:srgbClr val="0345E4"/>
            </a:solidFill>
          </p:spPr>
        </p:sp>
        <p:sp>
          <p:nvSpPr>
            <p:cNvPr id="18" name="TextBox 18"/>
            <p:cNvSpPr txBox="1"/>
            <p:nvPr/>
          </p:nvSpPr>
          <p:spPr>
            <a:xfrm>
              <a:off x="0" y="-28575"/>
              <a:ext cx="1806767" cy="172325"/>
            </a:xfrm>
            <a:prstGeom prst="rect">
              <a:avLst/>
            </a:prstGeom>
          </p:spPr>
          <p:txBody>
            <a:bodyPr lIns="50800" tIns="50800" rIns="50800" bIns="50800" rtlCol="0" anchor="ctr"/>
            <a:lstStyle/>
            <a:p>
              <a:pPr algn="ctr">
                <a:lnSpc>
                  <a:spcPts val="2659"/>
                </a:lnSpc>
              </a:pPr>
              <a:r>
                <a:rPr lang="en-US" sz="1899">
                  <a:solidFill>
                    <a:srgbClr val="FFFFFF"/>
                  </a:solidFill>
                  <a:latin typeface="Garet"/>
                  <a:ea typeface="Garet"/>
                  <a:cs typeface="Garet"/>
                  <a:sym typeface="Garet"/>
                </a:rPr>
                <a:t>Smart, Document-Based Legal Consultation System</a:t>
              </a:r>
            </a:p>
          </p:txBody>
        </p:sp>
      </p:grpSp>
      <p:grpSp>
        <p:nvGrpSpPr>
          <p:cNvPr id="19" name="Group 19"/>
          <p:cNvGrpSpPr/>
          <p:nvPr/>
        </p:nvGrpSpPr>
        <p:grpSpPr>
          <a:xfrm>
            <a:off x="10853887" y="786854"/>
            <a:ext cx="1977164" cy="1977164"/>
            <a:chOff x="0" y="0"/>
            <a:chExt cx="812800" cy="812800"/>
          </a:xfrm>
        </p:grpSpPr>
        <p:sp>
          <p:nvSpPr>
            <p:cNvPr id="20" name="Freeform 20"/>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id="21" name="TextBox 21"/>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22" name="Freeform 22"/>
          <p:cNvSpPr/>
          <p:nvPr/>
        </p:nvSpPr>
        <p:spPr>
          <a:xfrm>
            <a:off x="4133429" y="2852595"/>
            <a:ext cx="1302513" cy="1074573"/>
          </a:xfrm>
          <a:custGeom>
            <a:avLst/>
            <a:gdLst/>
            <a:ahLst/>
            <a:cxnLst/>
            <a:rect l="l" t="t" r="r" b="b"/>
            <a:pathLst>
              <a:path w="1302513" h="1074573">
                <a:moveTo>
                  <a:pt x="0" y="0"/>
                </a:moveTo>
                <a:lnTo>
                  <a:pt x="1302513" y="0"/>
                </a:lnTo>
                <a:lnTo>
                  <a:pt x="1302513" y="1074574"/>
                </a:lnTo>
                <a:lnTo>
                  <a:pt x="0" y="107457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3" name="TextBox 23"/>
          <p:cNvSpPr txBox="1"/>
          <p:nvPr/>
        </p:nvSpPr>
        <p:spPr>
          <a:xfrm>
            <a:off x="1723343" y="4530176"/>
            <a:ext cx="9480661" cy="764633"/>
          </a:xfrm>
          <a:prstGeom prst="rect">
            <a:avLst/>
          </a:prstGeom>
        </p:spPr>
        <p:txBody>
          <a:bodyPr lIns="0" tIns="0" rIns="0" bIns="0" rtlCol="0" anchor="t">
            <a:spAutoFit/>
          </a:bodyPr>
          <a:lstStyle/>
          <a:p>
            <a:pPr algn="l">
              <a:lnSpc>
                <a:spcPts val="5894"/>
              </a:lnSpc>
            </a:pPr>
            <a:r>
              <a:rPr lang="en-US" sz="5125" b="1" dirty="0">
                <a:solidFill>
                  <a:srgbClr val="000000"/>
                </a:solidFill>
                <a:latin typeface="Garet Bold"/>
                <a:ea typeface="Garet Bold"/>
                <a:cs typeface="Garet Bold"/>
                <a:sym typeface="Garet Bold"/>
              </a:rPr>
              <a:t>AI LEGAL ASSISTANT</a:t>
            </a:r>
          </a:p>
        </p:txBody>
      </p:sp>
      <p:grpSp>
        <p:nvGrpSpPr>
          <p:cNvPr id="24" name="Group 24"/>
          <p:cNvGrpSpPr/>
          <p:nvPr/>
        </p:nvGrpSpPr>
        <p:grpSpPr>
          <a:xfrm>
            <a:off x="8484493" y="9014056"/>
            <a:ext cx="2545888" cy="2545888"/>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76462" y="4215025"/>
            <a:ext cx="11830234" cy="3648180"/>
            <a:chOff x="0" y="0"/>
            <a:chExt cx="9347345" cy="2882513"/>
          </a:xfrm>
        </p:grpSpPr>
        <p:sp>
          <p:nvSpPr>
            <p:cNvPr id="3" name="Freeform 3"/>
            <p:cNvSpPr/>
            <p:nvPr/>
          </p:nvSpPr>
          <p:spPr>
            <a:xfrm>
              <a:off x="0" y="0"/>
              <a:ext cx="9347345" cy="2882513"/>
            </a:xfrm>
            <a:custGeom>
              <a:avLst/>
              <a:gdLst/>
              <a:ahLst/>
              <a:cxnLst/>
              <a:rect l="l" t="t" r="r" b="b"/>
              <a:pathLst>
                <a:path w="9347345" h="2882513">
                  <a:moveTo>
                    <a:pt x="0" y="0"/>
                  </a:moveTo>
                  <a:lnTo>
                    <a:pt x="9347345" y="0"/>
                  </a:lnTo>
                  <a:lnTo>
                    <a:pt x="9347345" y="2882513"/>
                  </a:lnTo>
                  <a:lnTo>
                    <a:pt x="0" y="2882513"/>
                  </a:lnTo>
                  <a:close/>
                </a:path>
              </a:pathLst>
            </a:custGeom>
            <a:solidFill>
              <a:srgbClr val="F6F6F6"/>
            </a:solidFill>
          </p:spPr>
        </p:sp>
        <p:sp>
          <p:nvSpPr>
            <p:cNvPr id="4" name="TextBox 4"/>
            <p:cNvSpPr txBox="1"/>
            <p:nvPr/>
          </p:nvSpPr>
          <p:spPr>
            <a:xfrm>
              <a:off x="0" y="-38100"/>
              <a:ext cx="9347345" cy="292061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0"/>
            <a:ext cx="5429066" cy="10287000"/>
            <a:chOff x="0" y="0"/>
            <a:chExt cx="7238755" cy="13716000"/>
          </a:xfrm>
        </p:grpSpPr>
        <p:pic>
          <p:nvPicPr>
            <p:cNvPr id="6" name="Picture 6"/>
            <p:cNvPicPr>
              <a:picLocks noChangeAspect="1"/>
            </p:cNvPicPr>
            <p:nvPr/>
          </p:nvPicPr>
          <p:blipFill>
            <a:blip r:embed="rId2"/>
            <a:srcRect l="17004" r="49284"/>
            <a:stretch>
              <a:fillRect/>
            </a:stretch>
          </p:blipFill>
          <p:spPr>
            <a:xfrm>
              <a:off x="0" y="0"/>
              <a:ext cx="7238755" cy="13716000"/>
            </a:xfrm>
            <a:prstGeom prst="rect">
              <a:avLst/>
            </a:prstGeom>
          </p:spPr>
        </p:pic>
      </p:grpSp>
      <p:grpSp>
        <p:nvGrpSpPr>
          <p:cNvPr id="7" name="Group 7"/>
          <p:cNvGrpSpPr/>
          <p:nvPr/>
        </p:nvGrpSpPr>
        <p:grpSpPr>
          <a:xfrm>
            <a:off x="17259300" y="0"/>
            <a:ext cx="1694792" cy="10287000"/>
            <a:chOff x="0" y="0"/>
            <a:chExt cx="446365" cy="2709333"/>
          </a:xfrm>
        </p:grpSpPr>
        <p:sp>
          <p:nvSpPr>
            <p:cNvPr id="8" name="Freeform 8"/>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9" name="TextBox 9"/>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7109187"/>
            <a:ext cx="1028700" cy="3177813"/>
            <a:chOff x="0" y="0"/>
            <a:chExt cx="812800" cy="2510865"/>
          </a:xfrm>
        </p:grpSpPr>
        <p:sp>
          <p:nvSpPr>
            <p:cNvPr id="11" name="Freeform 11"/>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12" name="TextBox 12"/>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0" y="0"/>
            <a:ext cx="1028700" cy="1028700"/>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5" name="TextBox 15"/>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7297118" y="327901"/>
            <a:ext cx="7494647" cy="1155745"/>
          </a:xfrm>
          <a:prstGeom prst="rect">
            <a:avLst/>
          </a:prstGeom>
        </p:spPr>
        <p:txBody>
          <a:bodyPr lIns="0" tIns="0" rIns="0" bIns="0" rtlCol="0" anchor="t">
            <a:spAutoFit/>
          </a:bodyPr>
          <a:lstStyle/>
          <a:p>
            <a:pPr algn="l">
              <a:lnSpc>
                <a:spcPts val="9487"/>
              </a:lnSpc>
            </a:pPr>
            <a:r>
              <a:rPr lang="en-US" sz="6776" b="1">
                <a:solidFill>
                  <a:srgbClr val="000000"/>
                </a:solidFill>
                <a:latin typeface="Garet Bold"/>
                <a:ea typeface="Garet Bold"/>
                <a:cs typeface="Garet Bold"/>
                <a:sym typeface="Garet Bold"/>
              </a:rPr>
              <a:t>CONTENT</a:t>
            </a:r>
          </a:p>
        </p:txBody>
      </p:sp>
      <p:grpSp>
        <p:nvGrpSpPr>
          <p:cNvPr id="17" name="Group 17"/>
          <p:cNvGrpSpPr/>
          <p:nvPr/>
        </p:nvGrpSpPr>
        <p:grpSpPr>
          <a:xfrm>
            <a:off x="7297118" y="1855121"/>
            <a:ext cx="969409" cy="969409"/>
            <a:chOff x="0" y="0"/>
            <a:chExt cx="812800" cy="812800"/>
          </a:xfrm>
        </p:grpSpPr>
        <p:sp>
          <p:nvSpPr>
            <p:cNvPr id="18" name="Freeform 18"/>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19" name="TextBox 19"/>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01</a:t>
              </a:r>
            </a:p>
          </p:txBody>
        </p:sp>
      </p:grpSp>
      <p:grpSp>
        <p:nvGrpSpPr>
          <p:cNvPr id="20" name="Group 20"/>
          <p:cNvGrpSpPr/>
          <p:nvPr/>
        </p:nvGrpSpPr>
        <p:grpSpPr>
          <a:xfrm>
            <a:off x="7297118" y="3036066"/>
            <a:ext cx="969409" cy="969409"/>
            <a:chOff x="0" y="0"/>
            <a:chExt cx="812800" cy="812800"/>
          </a:xfrm>
        </p:grpSpPr>
        <p:sp>
          <p:nvSpPr>
            <p:cNvPr id="21" name="Freeform 21"/>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2" name="TextBox 22"/>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02</a:t>
              </a:r>
            </a:p>
          </p:txBody>
        </p:sp>
      </p:grpSp>
      <p:grpSp>
        <p:nvGrpSpPr>
          <p:cNvPr id="23" name="Group 23"/>
          <p:cNvGrpSpPr/>
          <p:nvPr/>
        </p:nvGrpSpPr>
        <p:grpSpPr>
          <a:xfrm>
            <a:off x="7297118" y="4217012"/>
            <a:ext cx="969409" cy="969409"/>
            <a:chOff x="0" y="0"/>
            <a:chExt cx="812800" cy="812800"/>
          </a:xfrm>
        </p:grpSpPr>
        <p:sp>
          <p:nvSpPr>
            <p:cNvPr id="24" name="Freeform 24"/>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5" name="TextBox 25"/>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03</a:t>
              </a:r>
            </a:p>
          </p:txBody>
        </p:sp>
      </p:grpSp>
      <p:grpSp>
        <p:nvGrpSpPr>
          <p:cNvPr id="26" name="Group 26"/>
          <p:cNvGrpSpPr/>
          <p:nvPr/>
        </p:nvGrpSpPr>
        <p:grpSpPr>
          <a:xfrm>
            <a:off x="7297118" y="5397958"/>
            <a:ext cx="969409" cy="969409"/>
            <a:chOff x="0" y="0"/>
            <a:chExt cx="812800" cy="812800"/>
          </a:xfrm>
        </p:grpSpPr>
        <p:sp>
          <p:nvSpPr>
            <p:cNvPr id="27" name="Freeform 27"/>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28" name="TextBox 28"/>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04</a:t>
              </a:r>
            </a:p>
          </p:txBody>
        </p:sp>
      </p:grpSp>
      <p:grpSp>
        <p:nvGrpSpPr>
          <p:cNvPr id="29" name="Group 29"/>
          <p:cNvGrpSpPr/>
          <p:nvPr/>
        </p:nvGrpSpPr>
        <p:grpSpPr>
          <a:xfrm>
            <a:off x="7297118" y="6657220"/>
            <a:ext cx="969409" cy="969409"/>
            <a:chOff x="0" y="0"/>
            <a:chExt cx="812800" cy="812800"/>
          </a:xfrm>
        </p:grpSpPr>
        <p:sp>
          <p:nvSpPr>
            <p:cNvPr id="30" name="Freeform 3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31" name="TextBox 3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05</a:t>
              </a:r>
            </a:p>
          </p:txBody>
        </p:sp>
      </p:grpSp>
      <p:grpSp>
        <p:nvGrpSpPr>
          <p:cNvPr id="32" name="Group 32"/>
          <p:cNvGrpSpPr/>
          <p:nvPr/>
        </p:nvGrpSpPr>
        <p:grpSpPr>
          <a:xfrm>
            <a:off x="7297118" y="7885651"/>
            <a:ext cx="969409" cy="969409"/>
            <a:chOff x="0" y="0"/>
            <a:chExt cx="812800" cy="812800"/>
          </a:xfrm>
        </p:grpSpPr>
        <p:sp>
          <p:nvSpPr>
            <p:cNvPr id="33" name="Freeform 33"/>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34" name="TextBox 34"/>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06</a:t>
              </a:r>
            </a:p>
          </p:txBody>
        </p:sp>
      </p:grpSp>
      <p:grpSp>
        <p:nvGrpSpPr>
          <p:cNvPr id="35" name="Group 35"/>
          <p:cNvGrpSpPr/>
          <p:nvPr/>
        </p:nvGrpSpPr>
        <p:grpSpPr>
          <a:xfrm>
            <a:off x="15011231" y="1028700"/>
            <a:ext cx="1652841" cy="1652841"/>
            <a:chOff x="0" y="0"/>
            <a:chExt cx="812800" cy="812800"/>
          </a:xfrm>
        </p:grpSpPr>
        <p:sp>
          <p:nvSpPr>
            <p:cNvPr id="36" name="Freeform 36"/>
            <p:cNvSpPr/>
            <p:nvPr/>
          </p:nvSpPr>
          <p:spPr>
            <a:xfrm>
              <a:off x="0" y="0"/>
              <a:ext cx="812800" cy="812800"/>
            </a:xfrm>
            <a:custGeom>
              <a:avLst/>
              <a:gdLst/>
              <a:ahLst/>
              <a:cxnLst/>
              <a:rect l="l" t="t" r="r" b="b"/>
              <a:pathLst>
                <a:path w="812800" h="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id="37" name="TextBox 37"/>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38" name="Group 38"/>
          <p:cNvGrpSpPr/>
          <p:nvPr/>
        </p:nvGrpSpPr>
        <p:grpSpPr>
          <a:xfrm>
            <a:off x="14814124" y="816351"/>
            <a:ext cx="771724" cy="771724"/>
            <a:chOff x="0" y="0"/>
            <a:chExt cx="812800" cy="812800"/>
          </a:xfrm>
        </p:grpSpPr>
        <p:sp>
          <p:nvSpPr>
            <p:cNvPr id="39" name="Freeform 3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40" name="TextBox 4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15011231" y="7795333"/>
            <a:ext cx="3744615" cy="3744615"/>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43" name="TextBox 4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44" name="TextBox 44"/>
          <p:cNvSpPr txBox="1"/>
          <p:nvPr/>
        </p:nvSpPr>
        <p:spPr>
          <a:xfrm>
            <a:off x="8485829" y="2104875"/>
            <a:ext cx="2237735" cy="422264"/>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Introduction</a:t>
            </a:r>
          </a:p>
        </p:txBody>
      </p:sp>
      <p:sp>
        <p:nvSpPr>
          <p:cNvPr id="45" name="TextBox 45"/>
          <p:cNvSpPr txBox="1"/>
          <p:nvPr/>
        </p:nvSpPr>
        <p:spPr>
          <a:xfrm>
            <a:off x="8485829" y="4274176"/>
            <a:ext cx="3129433"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Literature Survey &amp; Existing Systems</a:t>
            </a:r>
          </a:p>
        </p:txBody>
      </p:sp>
      <p:sp>
        <p:nvSpPr>
          <p:cNvPr id="46" name="TextBox 46"/>
          <p:cNvSpPr txBox="1"/>
          <p:nvPr/>
        </p:nvSpPr>
        <p:spPr>
          <a:xfrm>
            <a:off x="8485846" y="5461840"/>
            <a:ext cx="2637186"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Proposed System</a:t>
            </a:r>
          </a:p>
        </p:txBody>
      </p:sp>
      <p:sp>
        <p:nvSpPr>
          <p:cNvPr id="47" name="TextBox 47"/>
          <p:cNvSpPr txBox="1"/>
          <p:nvPr/>
        </p:nvSpPr>
        <p:spPr>
          <a:xfrm>
            <a:off x="8485829" y="6649504"/>
            <a:ext cx="3257725"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System Architecture</a:t>
            </a:r>
          </a:p>
        </p:txBody>
      </p:sp>
      <p:sp>
        <p:nvSpPr>
          <p:cNvPr id="48" name="TextBox 48"/>
          <p:cNvSpPr txBox="1"/>
          <p:nvPr/>
        </p:nvSpPr>
        <p:spPr>
          <a:xfrm>
            <a:off x="8485829" y="7896234"/>
            <a:ext cx="3257725"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Document Analyzer Module</a:t>
            </a:r>
          </a:p>
        </p:txBody>
      </p:sp>
      <p:grpSp>
        <p:nvGrpSpPr>
          <p:cNvPr id="49" name="Group 49"/>
          <p:cNvGrpSpPr/>
          <p:nvPr/>
        </p:nvGrpSpPr>
        <p:grpSpPr>
          <a:xfrm>
            <a:off x="11962629" y="2384162"/>
            <a:ext cx="969409" cy="969409"/>
            <a:chOff x="0" y="0"/>
            <a:chExt cx="812800" cy="812800"/>
          </a:xfrm>
        </p:grpSpPr>
        <p:sp>
          <p:nvSpPr>
            <p:cNvPr id="50" name="Freeform 50"/>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51" name="TextBox 51"/>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08</a:t>
              </a:r>
            </a:p>
          </p:txBody>
        </p:sp>
      </p:grpSp>
      <p:grpSp>
        <p:nvGrpSpPr>
          <p:cNvPr id="52" name="Group 52"/>
          <p:cNvGrpSpPr/>
          <p:nvPr/>
        </p:nvGrpSpPr>
        <p:grpSpPr>
          <a:xfrm>
            <a:off x="11950049" y="3672672"/>
            <a:ext cx="969409" cy="969409"/>
            <a:chOff x="0" y="0"/>
            <a:chExt cx="812800" cy="812800"/>
          </a:xfrm>
        </p:grpSpPr>
        <p:sp>
          <p:nvSpPr>
            <p:cNvPr id="53" name="Freeform 53"/>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54" name="TextBox 54"/>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09</a:t>
              </a:r>
            </a:p>
          </p:txBody>
        </p:sp>
      </p:grpSp>
      <p:grpSp>
        <p:nvGrpSpPr>
          <p:cNvPr id="55" name="Group 55"/>
          <p:cNvGrpSpPr/>
          <p:nvPr/>
        </p:nvGrpSpPr>
        <p:grpSpPr>
          <a:xfrm>
            <a:off x="11962629" y="5002934"/>
            <a:ext cx="969409" cy="969409"/>
            <a:chOff x="0" y="0"/>
            <a:chExt cx="812800" cy="812800"/>
          </a:xfrm>
        </p:grpSpPr>
        <p:sp>
          <p:nvSpPr>
            <p:cNvPr id="56" name="Freeform 5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57" name="TextBox 57"/>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10</a:t>
              </a:r>
            </a:p>
          </p:txBody>
        </p:sp>
      </p:grpSp>
      <p:sp>
        <p:nvSpPr>
          <p:cNvPr id="58" name="TextBox 58"/>
          <p:cNvSpPr txBox="1"/>
          <p:nvPr/>
        </p:nvSpPr>
        <p:spPr>
          <a:xfrm>
            <a:off x="8485829" y="9112832"/>
            <a:ext cx="2521245" cy="869868"/>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Legal Chatbot Module</a:t>
            </a:r>
          </a:p>
        </p:txBody>
      </p:sp>
      <p:sp>
        <p:nvSpPr>
          <p:cNvPr id="59" name="TextBox 59"/>
          <p:cNvSpPr txBox="1"/>
          <p:nvPr/>
        </p:nvSpPr>
        <p:spPr>
          <a:xfrm>
            <a:off x="13151112" y="2405357"/>
            <a:ext cx="2657449" cy="869868"/>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Find Lawyer Module</a:t>
            </a:r>
          </a:p>
        </p:txBody>
      </p:sp>
      <p:sp>
        <p:nvSpPr>
          <p:cNvPr id="60" name="TextBox 60"/>
          <p:cNvSpPr txBox="1"/>
          <p:nvPr/>
        </p:nvSpPr>
        <p:spPr>
          <a:xfrm>
            <a:off x="13151112" y="3912913"/>
            <a:ext cx="3161376" cy="431729"/>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Workflow Diagram</a:t>
            </a:r>
          </a:p>
        </p:txBody>
      </p:sp>
      <p:grpSp>
        <p:nvGrpSpPr>
          <p:cNvPr id="61" name="Group 61"/>
          <p:cNvGrpSpPr/>
          <p:nvPr/>
        </p:nvGrpSpPr>
        <p:grpSpPr>
          <a:xfrm>
            <a:off x="11962629" y="6334293"/>
            <a:ext cx="969409" cy="969409"/>
            <a:chOff x="0" y="0"/>
            <a:chExt cx="812800" cy="812800"/>
          </a:xfrm>
        </p:grpSpPr>
        <p:sp>
          <p:nvSpPr>
            <p:cNvPr id="62" name="Freeform 62"/>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63" name="TextBox 63"/>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11</a:t>
              </a:r>
            </a:p>
          </p:txBody>
        </p:sp>
      </p:grpSp>
      <p:sp>
        <p:nvSpPr>
          <p:cNvPr id="64" name="TextBox 64"/>
          <p:cNvSpPr txBox="1"/>
          <p:nvPr/>
        </p:nvSpPr>
        <p:spPr>
          <a:xfrm>
            <a:off x="13151112" y="5024129"/>
            <a:ext cx="3161376" cy="869868"/>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Key Technologies Used</a:t>
            </a:r>
          </a:p>
        </p:txBody>
      </p:sp>
      <p:grpSp>
        <p:nvGrpSpPr>
          <p:cNvPr id="65" name="Group 65"/>
          <p:cNvGrpSpPr/>
          <p:nvPr/>
        </p:nvGrpSpPr>
        <p:grpSpPr>
          <a:xfrm>
            <a:off x="11950049" y="7579927"/>
            <a:ext cx="969409" cy="969409"/>
            <a:chOff x="0" y="0"/>
            <a:chExt cx="812800" cy="812800"/>
          </a:xfrm>
        </p:grpSpPr>
        <p:sp>
          <p:nvSpPr>
            <p:cNvPr id="66" name="Freeform 66"/>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67" name="TextBox 67"/>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12</a:t>
              </a:r>
            </a:p>
          </p:txBody>
        </p:sp>
      </p:grpSp>
      <p:sp>
        <p:nvSpPr>
          <p:cNvPr id="68" name="TextBox 68"/>
          <p:cNvSpPr txBox="1"/>
          <p:nvPr/>
        </p:nvSpPr>
        <p:spPr>
          <a:xfrm>
            <a:off x="13211077" y="7820191"/>
            <a:ext cx="3161376" cy="431729"/>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Demo</a:t>
            </a:r>
          </a:p>
        </p:txBody>
      </p:sp>
      <p:sp>
        <p:nvSpPr>
          <p:cNvPr id="69" name="TextBox 69"/>
          <p:cNvSpPr txBox="1"/>
          <p:nvPr/>
        </p:nvSpPr>
        <p:spPr>
          <a:xfrm>
            <a:off x="13151112" y="6532173"/>
            <a:ext cx="3161376" cy="431729"/>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Advantages</a:t>
            </a:r>
          </a:p>
        </p:txBody>
      </p:sp>
      <p:grpSp>
        <p:nvGrpSpPr>
          <p:cNvPr id="70" name="Group 70"/>
          <p:cNvGrpSpPr/>
          <p:nvPr/>
        </p:nvGrpSpPr>
        <p:grpSpPr>
          <a:xfrm>
            <a:off x="11962629" y="8825560"/>
            <a:ext cx="969409" cy="969409"/>
            <a:chOff x="0" y="0"/>
            <a:chExt cx="812800" cy="812800"/>
          </a:xfrm>
        </p:grpSpPr>
        <p:sp>
          <p:nvSpPr>
            <p:cNvPr id="71" name="Freeform 71"/>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72" name="TextBox 72"/>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13</a:t>
              </a:r>
            </a:p>
          </p:txBody>
        </p:sp>
      </p:grpSp>
      <p:sp>
        <p:nvSpPr>
          <p:cNvPr id="73" name="TextBox 73"/>
          <p:cNvSpPr txBox="1"/>
          <p:nvPr/>
        </p:nvSpPr>
        <p:spPr>
          <a:xfrm>
            <a:off x="13223657" y="9065825"/>
            <a:ext cx="1976329" cy="431729"/>
          </a:xfrm>
          <a:prstGeom prst="rect">
            <a:avLst/>
          </a:prstGeom>
        </p:spPr>
        <p:txBody>
          <a:bodyPr lIns="0" tIns="0" rIns="0" bIns="0" rtlCol="0" anchor="t">
            <a:spAutoFit/>
          </a:bodyPr>
          <a:lstStyle/>
          <a:p>
            <a:pPr algn="l">
              <a:lnSpc>
                <a:spcPts val="3503"/>
              </a:lnSpc>
            </a:pPr>
            <a:r>
              <a:rPr lang="en-US" sz="2502">
                <a:solidFill>
                  <a:srgbClr val="000000"/>
                </a:solidFill>
                <a:latin typeface="Garet"/>
                <a:ea typeface="Garet"/>
                <a:cs typeface="Garet"/>
                <a:sym typeface="Garet"/>
              </a:rPr>
              <a:t>Conclusion</a:t>
            </a:r>
          </a:p>
        </p:txBody>
      </p:sp>
      <p:grpSp>
        <p:nvGrpSpPr>
          <p:cNvPr id="74" name="Group 74"/>
          <p:cNvGrpSpPr/>
          <p:nvPr/>
        </p:nvGrpSpPr>
        <p:grpSpPr>
          <a:xfrm>
            <a:off x="7297118" y="9140810"/>
            <a:ext cx="969409" cy="969409"/>
            <a:chOff x="0" y="0"/>
            <a:chExt cx="812800" cy="812800"/>
          </a:xfrm>
        </p:grpSpPr>
        <p:sp>
          <p:nvSpPr>
            <p:cNvPr id="75" name="Freeform 75"/>
            <p:cNvSpPr/>
            <p:nvPr/>
          </p:nvSpPr>
          <p:spPr>
            <a:xfrm>
              <a:off x="0" y="0"/>
              <a:ext cx="812800" cy="812800"/>
            </a:xfrm>
            <a:custGeom>
              <a:avLst/>
              <a:gdLst/>
              <a:ahLst/>
              <a:cxnLst/>
              <a:rect l="l" t="t" r="r" b="b"/>
              <a:pathLst>
                <a:path w="812800" h="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id="76" name="TextBox 76"/>
            <p:cNvSpPr txBox="1"/>
            <p:nvPr/>
          </p:nvSpPr>
          <p:spPr>
            <a:xfrm>
              <a:off x="63500" y="-3175"/>
              <a:ext cx="685800" cy="752475"/>
            </a:xfrm>
            <a:prstGeom prst="rect">
              <a:avLst/>
            </a:prstGeom>
          </p:spPr>
          <p:txBody>
            <a:bodyPr lIns="44470" tIns="44470" rIns="44470" bIns="44470" rtlCol="0" anchor="ctr"/>
            <a:lstStyle/>
            <a:p>
              <a:pPr algn="ctr">
                <a:lnSpc>
                  <a:spcPts val="4759"/>
                </a:lnSpc>
              </a:pPr>
              <a:r>
                <a:rPr lang="en-US" sz="3399" b="1">
                  <a:solidFill>
                    <a:srgbClr val="FFFFFF"/>
                  </a:solidFill>
                  <a:latin typeface="Garet Bold"/>
                  <a:ea typeface="Garet Bold"/>
                  <a:cs typeface="Garet Bold"/>
                  <a:sym typeface="Garet Bold"/>
                </a:rPr>
                <a:t>07</a:t>
              </a:r>
            </a:p>
          </p:txBody>
        </p:sp>
      </p:grpSp>
      <p:sp>
        <p:nvSpPr>
          <p:cNvPr id="77" name="TextBox 77"/>
          <p:cNvSpPr txBox="1"/>
          <p:nvPr/>
        </p:nvSpPr>
        <p:spPr>
          <a:xfrm>
            <a:off x="8485829" y="3109660"/>
            <a:ext cx="2521245" cy="860403"/>
          </a:xfrm>
          <a:prstGeom prst="rect">
            <a:avLst/>
          </a:prstGeom>
        </p:spPr>
        <p:txBody>
          <a:bodyPr lIns="0" tIns="0" rIns="0" bIns="0" rtlCol="0" anchor="t">
            <a:spAutoFit/>
          </a:bodyPr>
          <a:lstStyle/>
          <a:p>
            <a:pPr algn="l">
              <a:lnSpc>
                <a:spcPts val="3499"/>
              </a:lnSpc>
            </a:pPr>
            <a:r>
              <a:rPr lang="en-US" sz="2499">
                <a:solidFill>
                  <a:srgbClr val="000000"/>
                </a:solidFill>
                <a:latin typeface="Garet"/>
                <a:ea typeface="Garet"/>
                <a:cs typeface="Garet"/>
                <a:sym typeface="Garet"/>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770594" cy="10287000"/>
            <a:chOff x="0" y="0"/>
            <a:chExt cx="1783202" cy="2709333"/>
          </a:xfrm>
        </p:grpSpPr>
        <p:sp>
          <p:nvSpPr>
            <p:cNvPr id="3" name="Freeform 3"/>
            <p:cNvSpPr/>
            <p:nvPr/>
          </p:nvSpPr>
          <p:spPr>
            <a:xfrm>
              <a:off x="0" y="0"/>
              <a:ext cx="1783202" cy="2709333"/>
            </a:xfrm>
            <a:custGeom>
              <a:avLst/>
              <a:gdLst/>
              <a:ahLst/>
              <a:cxnLst/>
              <a:rect l="l" t="t" r="r" b="b"/>
              <a:pathLst>
                <a:path w="1783202" h="2709333">
                  <a:moveTo>
                    <a:pt x="0" y="0"/>
                  </a:moveTo>
                  <a:lnTo>
                    <a:pt x="1783202" y="0"/>
                  </a:lnTo>
                  <a:lnTo>
                    <a:pt x="1783202" y="2709333"/>
                  </a:lnTo>
                  <a:lnTo>
                    <a:pt x="0" y="2709333"/>
                  </a:lnTo>
                  <a:close/>
                </a:path>
              </a:pathLst>
            </a:custGeom>
            <a:solidFill>
              <a:srgbClr val="0345E4"/>
            </a:solidFill>
          </p:spPr>
        </p:sp>
        <p:sp>
          <p:nvSpPr>
            <p:cNvPr id="4" name="TextBox 4"/>
            <p:cNvSpPr txBox="1"/>
            <p:nvPr/>
          </p:nvSpPr>
          <p:spPr>
            <a:xfrm>
              <a:off x="0" y="-38100"/>
              <a:ext cx="1783202" cy="2747433"/>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839945" y="4036449"/>
            <a:ext cx="1310100" cy="0"/>
          </a:xfrm>
          <a:prstGeom prst="line">
            <a:avLst/>
          </a:prstGeom>
          <a:ln w="95250" cap="flat">
            <a:solidFill>
              <a:srgbClr val="FFFFFF"/>
            </a:solidFill>
            <a:prstDash val="solid"/>
            <a:headEnd type="none" w="sm" len="sm"/>
            <a:tailEnd type="none" w="sm" len="sm"/>
          </a:ln>
        </p:spPr>
      </p:sp>
      <p:sp>
        <p:nvSpPr>
          <p:cNvPr id="6" name="Freeform 6"/>
          <p:cNvSpPr/>
          <p:nvPr/>
        </p:nvSpPr>
        <p:spPr>
          <a:xfrm>
            <a:off x="7198470" y="1852713"/>
            <a:ext cx="586293" cy="483692"/>
          </a:xfrm>
          <a:custGeom>
            <a:avLst/>
            <a:gdLst/>
            <a:ahLst/>
            <a:cxnLst/>
            <a:rect l="l" t="t" r="r" b="b"/>
            <a:pathLst>
              <a:path w="586293" h="483692">
                <a:moveTo>
                  <a:pt x="0" y="0"/>
                </a:moveTo>
                <a:lnTo>
                  <a:pt x="586294" y="0"/>
                </a:lnTo>
                <a:lnTo>
                  <a:pt x="586294" y="483692"/>
                </a:lnTo>
                <a:lnTo>
                  <a:pt x="0" y="48369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432901" y="2668901"/>
            <a:ext cx="5642059" cy="85412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INTRODUCTION</a:t>
            </a:r>
          </a:p>
        </p:txBody>
      </p:sp>
      <p:sp>
        <p:nvSpPr>
          <p:cNvPr id="8" name="TextBox 8"/>
          <p:cNvSpPr txBox="1"/>
          <p:nvPr/>
        </p:nvSpPr>
        <p:spPr>
          <a:xfrm>
            <a:off x="7940942" y="1848373"/>
            <a:ext cx="12022571" cy="3886624"/>
          </a:xfrm>
          <a:prstGeom prst="rect">
            <a:avLst/>
          </a:prstGeom>
        </p:spPr>
        <p:txBody>
          <a:bodyPr lIns="0" tIns="0" rIns="0" bIns="0" rtlCol="0" anchor="t">
            <a:spAutoFit/>
          </a:bodyPr>
          <a:lstStyle/>
          <a:p>
            <a:pPr algn="just">
              <a:lnSpc>
                <a:spcPts val="4029"/>
              </a:lnSpc>
            </a:pPr>
            <a:r>
              <a:rPr lang="en-US" sz="2599" b="1">
                <a:solidFill>
                  <a:srgbClr val="000000"/>
                </a:solidFill>
                <a:latin typeface="Open Sans Semi-Bold"/>
                <a:ea typeface="Open Sans Semi-Bold"/>
                <a:cs typeface="Open Sans Semi-Bold"/>
                <a:sym typeface="Open Sans Semi-Bold"/>
              </a:rPr>
              <a:t>Problem Statement:</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Legal information is difficult for common people.</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Document analysis is time-consuming.</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Generic chatbots hallucinate laws.</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No reliable chatbot trained on Indian laws.</a:t>
            </a:r>
          </a:p>
          <a:p>
            <a:pPr marL="539749" lvl="1" indent="-269875" algn="just">
              <a:lnSpc>
                <a:spcPts val="3874"/>
              </a:lnSpc>
              <a:buFont typeface="Arial"/>
              <a:buChar char="•"/>
            </a:pPr>
            <a:r>
              <a:rPr lang="en-US" sz="2499">
                <a:solidFill>
                  <a:srgbClr val="000000"/>
                </a:solidFill>
                <a:latin typeface="Open Sans"/>
                <a:ea typeface="Open Sans"/>
                <a:cs typeface="Open Sans"/>
                <a:sym typeface="Open Sans"/>
              </a:rPr>
              <a:t>Users spend hours understanding contracts, notices</a:t>
            </a:r>
          </a:p>
          <a:p>
            <a:pPr algn="just">
              <a:lnSpc>
                <a:spcPts val="3874"/>
              </a:lnSpc>
            </a:pPr>
            <a:endParaRPr lang="en-US" sz="2499">
              <a:solidFill>
                <a:srgbClr val="000000"/>
              </a:solidFill>
              <a:latin typeface="Open Sans"/>
              <a:ea typeface="Open Sans"/>
              <a:cs typeface="Open Sans"/>
              <a:sym typeface="Open Sans"/>
            </a:endParaRPr>
          </a:p>
          <a:p>
            <a:pPr marL="0" lvl="0" indent="0" algn="just">
              <a:lnSpc>
                <a:spcPts val="3874"/>
              </a:lnSpc>
            </a:pPr>
            <a:endParaRPr lang="en-US" sz="2499">
              <a:solidFill>
                <a:srgbClr val="000000"/>
              </a:solidFill>
              <a:latin typeface="Open Sans"/>
              <a:ea typeface="Open Sans"/>
              <a:cs typeface="Open Sans"/>
              <a:sym typeface="Open Sans"/>
            </a:endParaRPr>
          </a:p>
        </p:txBody>
      </p:sp>
      <p:grpSp>
        <p:nvGrpSpPr>
          <p:cNvPr id="9" name="Group 9"/>
          <p:cNvGrpSpPr/>
          <p:nvPr/>
        </p:nvGrpSpPr>
        <p:grpSpPr>
          <a:xfrm>
            <a:off x="8142421" y="6280129"/>
            <a:ext cx="732337" cy="73233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1" name="TextBox 11"/>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01</a:t>
              </a:r>
            </a:p>
          </p:txBody>
        </p:sp>
      </p:grpSp>
      <p:sp>
        <p:nvSpPr>
          <p:cNvPr id="12" name="TextBox 12"/>
          <p:cNvSpPr txBox="1"/>
          <p:nvPr/>
        </p:nvSpPr>
        <p:spPr>
          <a:xfrm>
            <a:off x="8331176" y="5641964"/>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AI Legal Assistant that:</a:t>
            </a:r>
          </a:p>
        </p:txBody>
      </p:sp>
      <p:sp>
        <p:nvSpPr>
          <p:cNvPr id="13" name="TextBox 13"/>
          <p:cNvSpPr txBox="1"/>
          <p:nvPr/>
        </p:nvSpPr>
        <p:spPr>
          <a:xfrm>
            <a:off x="7491617" y="5095875"/>
            <a:ext cx="1951264" cy="422264"/>
          </a:xfrm>
          <a:prstGeom prst="rect">
            <a:avLst/>
          </a:prstGeom>
        </p:spPr>
        <p:txBody>
          <a:bodyPr lIns="0" tIns="0" rIns="0" bIns="0" rtlCol="0" anchor="t">
            <a:spAutoFit/>
          </a:bodyPr>
          <a:lstStyle/>
          <a:p>
            <a:pPr algn="l">
              <a:lnSpc>
                <a:spcPts val="3499"/>
              </a:lnSpc>
            </a:pPr>
            <a:r>
              <a:rPr lang="en-US" sz="2499" b="1">
                <a:solidFill>
                  <a:srgbClr val="000000"/>
                </a:solidFill>
                <a:latin typeface="Garet Bold"/>
                <a:ea typeface="Garet Bold"/>
                <a:cs typeface="Garet Bold"/>
                <a:sym typeface="Garet Bold"/>
              </a:rPr>
              <a:t>Solution:</a:t>
            </a:r>
          </a:p>
        </p:txBody>
      </p:sp>
      <p:grpSp>
        <p:nvGrpSpPr>
          <p:cNvPr id="14" name="Group 14"/>
          <p:cNvGrpSpPr/>
          <p:nvPr/>
        </p:nvGrpSpPr>
        <p:grpSpPr>
          <a:xfrm>
            <a:off x="8142421" y="7309873"/>
            <a:ext cx="732337" cy="73233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6" name="TextBox 16"/>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02</a:t>
              </a:r>
            </a:p>
          </p:txBody>
        </p:sp>
      </p:grpSp>
      <p:grpSp>
        <p:nvGrpSpPr>
          <p:cNvPr id="17" name="Group 17"/>
          <p:cNvGrpSpPr/>
          <p:nvPr/>
        </p:nvGrpSpPr>
        <p:grpSpPr>
          <a:xfrm>
            <a:off x="8142421" y="8337485"/>
            <a:ext cx="732337" cy="73233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id="19" name="TextBox 19"/>
            <p:cNvSpPr txBox="1"/>
            <p:nvPr/>
          </p:nvSpPr>
          <p:spPr>
            <a:xfrm>
              <a:off x="76200" y="47625"/>
              <a:ext cx="660400" cy="688975"/>
            </a:xfrm>
            <a:prstGeom prst="rect">
              <a:avLst/>
            </a:prstGeom>
          </p:spPr>
          <p:txBody>
            <a:bodyPr lIns="50800" tIns="50800" rIns="50800" bIns="50800" rtlCol="0" anchor="ctr"/>
            <a:lstStyle/>
            <a:p>
              <a:pPr algn="ctr">
                <a:lnSpc>
                  <a:spcPts val="2659"/>
                </a:lnSpc>
              </a:pPr>
              <a:r>
                <a:rPr lang="en-US" sz="1899" b="1">
                  <a:solidFill>
                    <a:srgbClr val="FFFFFF"/>
                  </a:solidFill>
                  <a:latin typeface="Garet Bold"/>
                  <a:ea typeface="Garet Bold"/>
                  <a:cs typeface="Garet Bold"/>
                  <a:sym typeface="Garet Bold"/>
                </a:rPr>
                <a:t>03</a:t>
              </a:r>
            </a:p>
          </p:txBody>
        </p:sp>
      </p:grpSp>
      <p:grpSp>
        <p:nvGrpSpPr>
          <p:cNvPr id="20" name="Group 20"/>
          <p:cNvGrpSpPr/>
          <p:nvPr/>
        </p:nvGrpSpPr>
        <p:grpSpPr>
          <a:xfrm>
            <a:off x="15851872" y="5938722"/>
            <a:ext cx="4596322" cy="459632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9070840" y="8446647"/>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Helps to find the suitable lawyer.</a:t>
            </a:r>
          </a:p>
        </p:txBody>
      </p:sp>
      <p:grpSp>
        <p:nvGrpSpPr>
          <p:cNvPr id="24" name="Group 24"/>
          <p:cNvGrpSpPr/>
          <p:nvPr/>
        </p:nvGrpSpPr>
        <p:grpSpPr>
          <a:xfrm rot="5400000">
            <a:off x="15946358" y="-521852"/>
            <a:ext cx="2305265" cy="3098561"/>
            <a:chOff x="0" y="0"/>
            <a:chExt cx="1266601" cy="1702468"/>
          </a:xfrm>
        </p:grpSpPr>
        <p:sp>
          <p:nvSpPr>
            <p:cNvPr id="25" name="Freeform 25"/>
            <p:cNvSpPr/>
            <p:nvPr/>
          </p:nvSpPr>
          <p:spPr>
            <a:xfrm>
              <a:off x="0" y="0"/>
              <a:ext cx="1266601" cy="1702468"/>
            </a:xfrm>
            <a:custGeom>
              <a:avLst/>
              <a:gdLst/>
              <a:ahLst/>
              <a:cxnLst/>
              <a:rect l="l" t="t" r="r" b="b"/>
              <a:pathLst>
                <a:path w="1266601" h="1702468">
                  <a:moveTo>
                    <a:pt x="171277" y="0"/>
                  </a:moveTo>
                  <a:lnTo>
                    <a:pt x="1095325" y="0"/>
                  </a:lnTo>
                  <a:cubicBezTo>
                    <a:pt x="1140750" y="0"/>
                    <a:pt x="1184315" y="18045"/>
                    <a:pt x="1216435" y="50166"/>
                  </a:cubicBezTo>
                  <a:cubicBezTo>
                    <a:pt x="1248556" y="82286"/>
                    <a:pt x="1266601" y="125851"/>
                    <a:pt x="1266601" y="171277"/>
                  </a:cubicBezTo>
                  <a:lnTo>
                    <a:pt x="1266601" y="1531192"/>
                  </a:lnTo>
                  <a:cubicBezTo>
                    <a:pt x="1266601" y="1625785"/>
                    <a:pt x="1189918" y="1702468"/>
                    <a:pt x="1095325" y="1702468"/>
                  </a:cubicBezTo>
                  <a:lnTo>
                    <a:pt x="171277" y="1702468"/>
                  </a:lnTo>
                  <a:cubicBezTo>
                    <a:pt x="125851" y="1702468"/>
                    <a:pt x="82286" y="1684423"/>
                    <a:pt x="50166" y="1652303"/>
                  </a:cubicBezTo>
                  <a:cubicBezTo>
                    <a:pt x="18045" y="1620182"/>
                    <a:pt x="0" y="1576617"/>
                    <a:pt x="0" y="1531192"/>
                  </a:cubicBezTo>
                  <a:lnTo>
                    <a:pt x="0" y="171277"/>
                  </a:lnTo>
                  <a:cubicBezTo>
                    <a:pt x="0" y="76683"/>
                    <a:pt x="76683" y="0"/>
                    <a:pt x="171277" y="0"/>
                  </a:cubicBezTo>
                  <a:close/>
                </a:path>
              </a:pathLst>
            </a:custGeom>
            <a:solidFill>
              <a:srgbClr val="0345E4">
                <a:alpha val="29804"/>
              </a:srgbClr>
            </a:solidFill>
          </p:spPr>
        </p:sp>
        <p:sp>
          <p:nvSpPr>
            <p:cNvPr id="26" name="TextBox 26"/>
            <p:cNvSpPr txBox="1"/>
            <p:nvPr/>
          </p:nvSpPr>
          <p:spPr>
            <a:xfrm>
              <a:off x="0" y="-38100"/>
              <a:ext cx="1266601" cy="1740568"/>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5400000">
            <a:off x="14989378" y="1292381"/>
            <a:ext cx="1120664" cy="1120664"/>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rot="5400000">
            <a:off x="5324660" y="9048119"/>
            <a:ext cx="596043" cy="59604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9012574" y="6390042"/>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Reads real legal documents (PDFs).</a:t>
            </a:r>
          </a:p>
        </p:txBody>
      </p:sp>
      <p:sp>
        <p:nvSpPr>
          <p:cNvPr id="34" name="TextBox 34"/>
          <p:cNvSpPr txBox="1"/>
          <p:nvPr/>
        </p:nvSpPr>
        <p:spPr>
          <a:xfrm>
            <a:off x="9012574" y="7219356"/>
            <a:ext cx="8874806" cy="909801"/>
          </a:xfrm>
          <a:prstGeom prst="rect">
            <a:avLst/>
          </a:prstGeom>
        </p:spPr>
        <p:txBody>
          <a:bodyPr wrap="square" lIns="0" tIns="0" rIns="0" bIns="0" rtlCol="0" anchor="t">
            <a:spAutoFit/>
          </a:bodyPr>
          <a:lstStyle/>
          <a:p>
            <a:pPr marL="0" lvl="0" indent="0" algn="just">
              <a:lnSpc>
                <a:spcPts val="3720"/>
              </a:lnSpc>
            </a:pPr>
            <a:r>
              <a:rPr lang="en-US" sz="2400" dirty="0">
                <a:solidFill>
                  <a:srgbClr val="000000"/>
                </a:solidFill>
                <a:latin typeface="Open Sans"/>
                <a:ea typeface="Open Sans"/>
                <a:cs typeface="Open Sans"/>
                <a:sym typeface="Open Sans"/>
              </a:rPr>
              <a:t>Provides accurate, cited answers on Marriage, </a:t>
            </a:r>
            <a:r>
              <a:rPr lang="en-US" sz="2400" dirty="0" err="1">
                <a:solidFill>
                  <a:srgbClr val="000000"/>
                </a:solidFill>
                <a:latin typeface="Open Sans"/>
                <a:ea typeface="Open Sans"/>
                <a:cs typeface="Open Sans"/>
                <a:sym typeface="Open Sans"/>
              </a:rPr>
              <a:t>Empolyee</a:t>
            </a:r>
            <a:r>
              <a:rPr lang="en-US" sz="2400" dirty="0">
                <a:solidFill>
                  <a:srgbClr val="000000"/>
                </a:solidFill>
                <a:latin typeface="Open Sans"/>
                <a:ea typeface="Open Sans"/>
                <a:cs typeface="Open Sans"/>
                <a:sym typeface="Open Sans"/>
              </a:rPr>
              <a:t>, Cyber &amp; Consumer law.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blipFill>
            <a:blip r:embed="rId2"/>
            <a:stretch>
              <a:fillRect t="-38888" b="-38888"/>
            </a:stretch>
          </a:blipFill>
        </p:spPr>
      </p:sp>
      <p:grpSp>
        <p:nvGrpSpPr>
          <p:cNvPr id="3" name="Group 3"/>
          <p:cNvGrpSpPr/>
          <p:nvPr/>
        </p:nvGrpSpPr>
        <p:grpSpPr>
          <a:xfrm>
            <a:off x="-528002" y="0"/>
            <a:ext cx="19048322" cy="3086100"/>
            <a:chOff x="0" y="0"/>
            <a:chExt cx="5016842" cy="812800"/>
          </a:xfrm>
        </p:grpSpPr>
        <p:sp>
          <p:nvSpPr>
            <p:cNvPr id="4" name="Freeform 4"/>
            <p:cNvSpPr/>
            <p:nvPr/>
          </p:nvSpPr>
          <p:spPr>
            <a:xfrm>
              <a:off x="0" y="0"/>
              <a:ext cx="5016842" cy="812800"/>
            </a:xfrm>
            <a:custGeom>
              <a:avLst/>
              <a:gdLst/>
              <a:ahLst/>
              <a:cxnLst/>
              <a:rect l="l" t="t" r="r" b="b"/>
              <a:pathLst>
                <a:path w="5016842" h="812800">
                  <a:moveTo>
                    <a:pt x="0" y="0"/>
                  </a:moveTo>
                  <a:lnTo>
                    <a:pt x="5016842" y="0"/>
                  </a:lnTo>
                  <a:lnTo>
                    <a:pt x="5016842" y="812800"/>
                  </a:lnTo>
                  <a:lnTo>
                    <a:pt x="0" y="812800"/>
                  </a:lnTo>
                  <a:close/>
                </a:path>
              </a:pathLst>
            </a:custGeom>
            <a:solidFill>
              <a:srgbClr val="0345E4"/>
            </a:solidFill>
          </p:spPr>
        </p:sp>
        <p:sp>
          <p:nvSpPr>
            <p:cNvPr id="5" name="TextBox 5"/>
            <p:cNvSpPr txBox="1"/>
            <p:nvPr/>
          </p:nvSpPr>
          <p:spPr>
            <a:xfrm>
              <a:off x="0" y="-19050"/>
              <a:ext cx="5016842" cy="831850"/>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1929623" y="3875422"/>
            <a:ext cx="4473739" cy="3852699"/>
          </a:xfrm>
          <a:custGeom>
            <a:avLst/>
            <a:gdLst/>
            <a:ahLst/>
            <a:cxnLst/>
            <a:rect l="l" t="t" r="r" b="b"/>
            <a:pathLst>
              <a:path w="4473739" h="3852699">
                <a:moveTo>
                  <a:pt x="0" y="0"/>
                </a:moveTo>
                <a:lnTo>
                  <a:pt x="4473739" y="0"/>
                </a:lnTo>
                <a:lnTo>
                  <a:pt x="4473739" y="3852699"/>
                </a:lnTo>
                <a:lnTo>
                  <a:pt x="0" y="3852699"/>
                </a:lnTo>
                <a:lnTo>
                  <a:pt x="0" y="0"/>
                </a:lnTo>
                <a:close/>
              </a:path>
            </a:pathLst>
          </a:custGeom>
          <a:blipFill>
            <a:blip r:embed="rId3"/>
            <a:stretch>
              <a:fillRect l="-21034" t="-9911" r="-21034"/>
            </a:stretch>
          </a:blipFill>
        </p:spPr>
      </p:sp>
      <p:grpSp>
        <p:nvGrpSpPr>
          <p:cNvPr id="7" name="Group 7"/>
          <p:cNvGrpSpPr/>
          <p:nvPr/>
        </p:nvGrpSpPr>
        <p:grpSpPr>
          <a:xfrm>
            <a:off x="1929623" y="3442596"/>
            <a:ext cx="4473739" cy="960981"/>
            <a:chOff x="0" y="0"/>
            <a:chExt cx="1178269" cy="253098"/>
          </a:xfrm>
        </p:grpSpPr>
        <p:sp>
          <p:nvSpPr>
            <p:cNvPr id="8" name="Freeform 8"/>
            <p:cNvSpPr/>
            <p:nvPr/>
          </p:nvSpPr>
          <p:spPr>
            <a:xfrm>
              <a:off x="0" y="0"/>
              <a:ext cx="1178269" cy="253098"/>
            </a:xfrm>
            <a:custGeom>
              <a:avLst/>
              <a:gdLst/>
              <a:ahLst/>
              <a:cxnLst/>
              <a:rect l="l" t="t" r="r" b="b"/>
              <a:pathLst>
                <a:path w="1178269" h="253098">
                  <a:moveTo>
                    <a:pt x="0" y="0"/>
                  </a:moveTo>
                  <a:lnTo>
                    <a:pt x="1178269" y="0"/>
                  </a:lnTo>
                  <a:lnTo>
                    <a:pt x="1178269" y="253098"/>
                  </a:lnTo>
                  <a:lnTo>
                    <a:pt x="0" y="253098"/>
                  </a:lnTo>
                  <a:close/>
                </a:path>
              </a:pathLst>
            </a:custGeom>
            <a:solidFill>
              <a:srgbClr val="194A8D"/>
            </a:solidFill>
          </p:spPr>
        </p:sp>
        <p:sp>
          <p:nvSpPr>
            <p:cNvPr id="9" name="TextBox 9"/>
            <p:cNvSpPr txBox="1"/>
            <p:nvPr/>
          </p:nvSpPr>
          <p:spPr>
            <a:xfrm>
              <a:off x="0" y="-47625"/>
              <a:ext cx="1178269" cy="300723"/>
            </a:xfrm>
            <a:prstGeom prst="rect">
              <a:avLst/>
            </a:prstGeom>
          </p:spPr>
          <p:txBody>
            <a:bodyPr lIns="50800" tIns="50800" rIns="50800" bIns="50800" rtlCol="0" anchor="ctr"/>
            <a:lstStyle/>
            <a:p>
              <a:pPr marL="0" lvl="0" indent="0" algn="ctr">
                <a:lnSpc>
                  <a:spcPts val="3424"/>
                </a:lnSpc>
                <a:spcBef>
                  <a:spcPct val="0"/>
                </a:spcBef>
              </a:pPr>
              <a:r>
                <a:rPr lang="en-US" sz="2481" i="1" spc="24">
                  <a:solidFill>
                    <a:srgbClr val="FFFFFF"/>
                  </a:solidFill>
                  <a:latin typeface="Open Sauce Italics"/>
                  <a:ea typeface="Open Sauce Italics"/>
                  <a:cs typeface="Open Sauce Italics"/>
                  <a:sym typeface="Open Sauce Italics"/>
                </a:rPr>
                <a:t>1. Document Analyzer Module</a:t>
              </a:r>
            </a:p>
          </p:txBody>
        </p:sp>
      </p:grpSp>
      <p:sp>
        <p:nvSpPr>
          <p:cNvPr id="10" name="TextBox 10"/>
          <p:cNvSpPr txBox="1"/>
          <p:nvPr/>
        </p:nvSpPr>
        <p:spPr>
          <a:xfrm>
            <a:off x="1632802" y="48136"/>
            <a:ext cx="13775679" cy="2780278"/>
          </a:xfrm>
          <a:prstGeom prst="rect">
            <a:avLst/>
          </a:prstGeom>
        </p:spPr>
        <p:txBody>
          <a:bodyPr lIns="0" tIns="0" rIns="0" bIns="0" rtlCol="0" anchor="t">
            <a:spAutoFit/>
          </a:bodyPr>
          <a:lstStyle/>
          <a:p>
            <a:pPr algn="ctr">
              <a:lnSpc>
                <a:spcPts val="10886"/>
              </a:lnSpc>
            </a:pPr>
            <a:r>
              <a:rPr lang="en-US" sz="7888" spc="773">
                <a:solidFill>
                  <a:srgbClr val="FFFFFF"/>
                </a:solidFill>
                <a:latin typeface="Poppins"/>
                <a:ea typeface="Poppins"/>
                <a:cs typeface="Poppins"/>
                <a:sym typeface="Poppins"/>
              </a:rPr>
              <a:t>Literature Survey &amp; Existing Systems</a:t>
            </a:r>
          </a:p>
        </p:txBody>
      </p:sp>
      <p:grpSp>
        <p:nvGrpSpPr>
          <p:cNvPr id="11" name="Group 11"/>
          <p:cNvGrpSpPr/>
          <p:nvPr/>
        </p:nvGrpSpPr>
        <p:grpSpPr>
          <a:xfrm>
            <a:off x="1929623" y="7902043"/>
            <a:ext cx="4473739" cy="2077422"/>
            <a:chOff x="0" y="0"/>
            <a:chExt cx="1178269" cy="547140"/>
          </a:xfrm>
        </p:grpSpPr>
        <p:sp>
          <p:nvSpPr>
            <p:cNvPr id="12" name="Freeform 12"/>
            <p:cNvSpPr/>
            <p:nvPr/>
          </p:nvSpPr>
          <p:spPr>
            <a:xfrm>
              <a:off x="0" y="0"/>
              <a:ext cx="1178269" cy="547140"/>
            </a:xfrm>
            <a:custGeom>
              <a:avLst/>
              <a:gdLst/>
              <a:ahLst/>
              <a:cxnLst/>
              <a:rect l="l" t="t" r="r" b="b"/>
              <a:pathLst>
                <a:path w="1178269" h="547140">
                  <a:moveTo>
                    <a:pt x="0" y="0"/>
                  </a:moveTo>
                  <a:lnTo>
                    <a:pt x="1178269" y="0"/>
                  </a:lnTo>
                  <a:lnTo>
                    <a:pt x="1178269" y="547140"/>
                  </a:lnTo>
                  <a:lnTo>
                    <a:pt x="0" y="547140"/>
                  </a:lnTo>
                  <a:close/>
                </a:path>
              </a:pathLst>
            </a:custGeom>
            <a:solidFill>
              <a:srgbClr val="194A8D"/>
            </a:solidFill>
          </p:spPr>
        </p:sp>
        <p:sp>
          <p:nvSpPr>
            <p:cNvPr id="13" name="TextBox 13"/>
            <p:cNvSpPr txBox="1"/>
            <p:nvPr/>
          </p:nvSpPr>
          <p:spPr>
            <a:xfrm>
              <a:off x="0" y="-28575"/>
              <a:ext cx="1178269" cy="575715"/>
            </a:xfrm>
            <a:prstGeom prst="rect">
              <a:avLst/>
            </a:prstGeom>
          </p:spPr>
          <p:txBody>
            <a:bodyPr lIns="114300" tIns="114300" rIns="114300" bIns="114300" rtlCol="0" anchor="ctr"/>
            <a:lstStyle/>
            <a:p>
              <a:pPr marL="0" lvl="0" indent="0" algn="ctr">
                <a:lnSpc>
                  <a:spcPts val="2483"/>
                </a:lnSpc>
                <a:spcBef>
                  <a:spcPct val="0"/>
                </a:spcBef>
              </a:pPr>
              <a:r>
                <a:rPr lang="en-US" sz="1799" i="1" spc="17">
                  <a:solidFill>
                    <a:srgbClr val="FFFFFF"/>
                  </a:solidFill>
                  <a:latin typeface="Open Sauce Italics"/>
                  <a:ea typeface="Open Sauce Italics"/>
                  <a:cs typeface="Open Sauce Italics"/>
                  <a:sym typeface="Open Sauce Italics"/>
                </a:rPr>
                <a:t>“AI and Chatbot in Legal Hiring” (IRJMETS, 2025) — Focuses on AI for legal research, NLP, document review and contract analysis. Highlights need for automated legal document processing.</a:t>
              </a:r>
            </a:p>
          </p:txBody>
        </p:sp>
      </p:grpSp>
      <p:sp>
        <p:nvSpPr>
          <p:cNvPr id="14" name="Freeform 14"/>
          <p:cNvSpPr/>
          <p:nvPr/>
        </p:nvSpPr>
        <p:spPr>
          <a:xfrm>
            <a:off x="6906074" y="3875422"/>
            <a:ext cx="4473739" cy="3852699"/>
          </a:xfrm>
          <a:custGeom>
            <a:avLst/>
            <a:gdLst/>
            <a:ahLst/>
            <a:cxnLst/>
            <a:rect l="l" t="t" r="r" b="b"/>
            <a:pathLst>
              <a:path w="4473739" h="3852699">
                <a:moveTo>
                  <a:pt x="0" y="0"/>
                </a:moveTo>
                <a:lnTo>
                  <a:pt x="4473739" y="0"/>
                </a:lnTo>
                <a:lnTo>
                  <a:pt x="4473739" y="3852699"/>
                </a:lnTo>
                <a:lnTo>
                  <a:pt x="0" y="3852699"/>
                </a:lnTo>
                <a:lnTo>
                  <a:pt x="0" y="0"/>
                </a:lnTo>
                <a:close/>
              </a:path>
            </a:pathLst>
          </a:custGeom>
          <a:blipFill>
            <a:blip r:embed="rId4"/>
            <a:stretch>
              <a:fillRect l="-14628" r="-14628"/>
            </a:stretch>
          </a:blipFill>
        </p:spPr>
      </p:sp>
      <p:grpSp>
        <p:nvGrpSpPr>
          <p:cNvPr id="15" name="Group 15"/>
          <p:cNvGrpSpPr/>
          <p:nvPr/>
        </p:nvGrpSpPr>
        <p:grpSpPr>
          <a:xfrm>
            <a:off x="6906074" y="3442596"/>
            <a:ext cx="4473739" cy="636748"/>
            <a:chOff x="0" y="0"/>
            <a:chExt cx="1178269" cy="167703"/>
          </a:xfrm>
        </p:grpSpPr>
        <p:sp>
          <p:nvSpPr>
            <p:cNvPr id="16" name="Freeform 16"/>
            <p:cNvSpPr/>
            <p:nvPr/>
          </p:nvSpPr>
          <p:spPr>
            <a:xfrm>
              <a:off x="0" y="0"/>
              <a:ext cx="1178269" cy="167703"/>
            </a:xfrm>
            <a:custGeom>
              <a:avLst/>
              <a:gdLst/>
              <a:ahLst/>
              <a:cxnLst/>
              <a:rect l="l" t="t" r="r" b="b"/>
              <a:pathLst>
                <a:path w="1178269" h="167703">
                  <a:moveTo>
                    <a:pt x="0" y="0"/>
                  </a:moveTo>
                  <a:lnTo>
                    <a:pt x="1178269" y="0"/>
                  </a:lnTo>
                  <a:lnTo>
                    <a:pt x="1178269" y="167703"/>
                  </a:lnTo>
                  <a:lnTo>
                    <a:pt x="0" y="167703"/>
                  </a:lnTo>
                  <a:close/>
                </a:path>
              </a:pathLst>
            </a:custGeom>
            <a:solidFill>
              <a:srgbClr val="194A8D"/>
            </a:solidFill>
          </p:spPr>
        </p:sp>
        <p:sp>
          <p:nvSpPr>
            <p:cNvPr id="17" name="TextBox 17"/>
            <p:cNvSpPr txBox="1"/>
            <p:nvPr/>
          </p:nvSpPr>
          <p:spPr>
            <a:xfrm>
              <a:off x="0" y="-47625"/>
              <a:ext cx="1178269" cy="215328"/>
            </a:xfrm>
            <a:prstGeom prst="rect">
              <a:avLst/>
            </a:prstGeom>
          </p:spPr>
          <p:txBody>
            <a:bodyPr lIns="50800" tIns="50800" rIns="50800" bIns="50800" rtlCol="0" anchor="ctr"/>
            <a:lstStyle/>
            <a:p>
              <a:pPr marL="0" lvl="0" indent="0" algn="ctr">
                <a:lnSpc>
                  <a:spcPts val="3424"/>
                </a:lnSpc>
                <a:spcBef>
                  <a:spcPct val="0"/>
                </a:spcBef>
              </a:pPr>
              <a:r>
                <a:rPr lang="en-US" sz="2481" i="1" spc="24">
                  <a:solidFill>
                    <a:srgbClr val="FFFFFF"/>
                  </a:solidFill>
                  <a:latin typeface="Open Sauce Italics"/>
                  <a:ea typeface="Open Sauce Italics"/>
                  <a:cs typeface="Open Sauce Italics"/>
                  <a:sym typeface="Open Sauce Italics"/>
                </a:rPr>
                <a:t>2. Legal Chatbot Module</a:t>
              </a:r>
            </a:p>
          </p:txBody>
        </p:sp>
      </p:grpSp>
      <p:grpSp>
        <p:nvGrpSpPr>
          <p:cNvPr id="18" name="Group 18"/>
          <p:cNvGrpSpPr/>
          <p:nvPr/>
        </p:nvGrpSpPr>
        <p:grpSpPr>
          <a:xfrm>
            <a:off x="6906074" y="7902043"/>
            <a:ext cx="4473739" cy="1763074"/>
            <a:chOff x="0" y="0"/>
            <a:chExt cx="1178269" cy="464349"/>
          </a:xfrm>
        </p:grpSpPr>
        <p:sp>
          <p:nvSpPr>
            <p:cNvPr id="19" name="Freeform 19"/>
            <p:cNvSpPr/>
            <p:nvPr/>
          </p:nvSpPr>
          <p:spPr>
            <a:xfrm>
              <a:off x="0" y="0"/>
              <a:ext cx="1178269" cy="464349"/>
            </a:xfrm>
            <a:custGeom>
              <a:avLst/>
              <a:gdLst/>
              <a:ahLst/>
              <a:cxnLst/>
              <a:rect l="l" t="t" r="r" b="b"/>
              <a:pathLst>
                <a:path w="1178269" h="464349">
                  <a:moveTo>
                    <a:pt x="0" y="0"/>
                  </a:moveTo>
                  <a:lnTo>
                    <a:pt x="1178269" y="0"/>
                  </a:lnTo>
                  <a:lnTo>
                    <a:pt x="1178269" y="464349"/>
                  </a:lnTo>
                  <a:lnTo>
                    <a:pt x="0" y="464349"/>
                  </a:lnTo>
                  <a:close/>
                </a:path>
              </a:pathLst>
            </a:custGeom>
            <a:solidFill>
              <a:srgbClr val="194A8D"/>
            </a:solidFill>
          </p:spPr>
        </p:sp>
        <p:sp>
          <p:nvSpPr>
            <p:cNvPr id="20" name="TextBox 20"/>
            <p:cNvSpPr txBox="1"/>
            <p:nvPr/>
          </p:nvSpPr>
          <p:spPr>
            <a:xfrm>
              <a:off x="0" y="-28575"/>
              <a:ext cx="1178269" cy="492924"/>
            </a:xfrm>
            <a:prstGeom prst="rect">
              <a:avLst/>
            </a:prstGeom>
          </p:spPr>
          <p:txBody>
            <a:bodyPr lIns="114300" tIns="114300" rIns="114300" bIns="114300" rtlCol="0" anchor="ctr"/>
            <a:lstStyle/>
            <a:p>
              <a:pPr marL="0" lvl="0" indent="0" algn="ctr">
                <a:lnSpc>
                  <a:spcPts val="2483"/>
                </a:lnSpc>
                <a:spcBef>
                  <a:spcPct val="0"/>
                </a:spcBef>
              </a:pPr>
              <a:r>
                <a:rPr lang="en-US" sz="1799" i="1" spc="17">
                  <a:solidFill>
                    <a:srgbClr val="FFFFFF"/>
                  </a:solidFill>
                  <a:latin typeface="Open Sauce Italics"/>
                  <a:ea typeface="Open Sauce Italics"/>
                  <a:cs typeface="Open Sauce Italics"/>
                  <a:sym typeface="Open Sauce Italics"/>
                </a:rPr>
                <a:t>“LEGALBOT – AI Law Advisor Chatbot” (IJNRD, 2024) — Demonstrates NLP-based legal chatbots but limited to general queries and no RAG/FAISS indexing.</a:t>
              </a:r>
            </a:p>
          </p:txBody>
        </p:sp>
      </p:grpSp>
      <p:sp>
        <p:nvSpPr>
          <p:cNvPr id="21" name="Freeform 21"/>
          <p:cNvSpPr/>
          <p:nvPr/>
        </p:nvSpPr>
        <p:spPr>
          <a:xfrm>
            <a:off x="11884638" y="3875422"/>
            <a:ext cx="4473739" cy="3852699"/>
          </a:xfrm>
          <a:custGeom>
            <a:avLst/>
            <a:gdLst/>
            <a:ahLst/>
            <a:cxnLst/>
            <a:rect l="l" t="t" r="r" b="b"/>
            <a:pathLst>
              <a:path w="4473739" h="3852699">
                <a:moveTo>
                  <a:pt x="0" y="0"/>
                </a:moveTo>
                <a:lnTo>
                  <a:pt x="4473739" y="0"/>
                </a:lnTo>
                <a:lnTo>
                  <a:pt x="4473739" y="3852699"/>
                </a:lnTo>
                <a:lnTo>
                  <a:pt x="0" y="3852699"/>
                </a:lnTo>
                <a:lnTo>
                  <a:pt x="0" y="0"/>
                </a:lnTo>
                <a:close/>
              </a:path>
            </a:pathLst>
          </a:custGeom>
          <a:blipFill>
            <a:blip r:embed="rId5"/>
            <a:stretch>
              <a:fillRect t="-37144" b="-37144"/>
            </a:stretch>
          </a:blipFill>
        </p:spPr>
      </p:sp>
      <p:grpSp>
        <p:nvGrpSpPr>
          <p:cNvPr id="22" name="Group 22"/>
          <p:cNvGrpSpPr/>
          <p:nvPr/>
        </p:nvGrpSpPr>
        <p:grpSpPr>
          <a:xfrm>
            <a:off x="11884638" y="3442596"/>
            <a:ext cx="4473739" cy="960981"/>
            <a:chOff x="0" y="0"/>
            <a:chExt cx="1178269" cy="253098"/>
          </a:xfrm>
        </p:grpSpPr>
        <p:sp>
          <p:nvSpPr>
            <p:cNvPr id="23" name="Freeform 23"/>
            <p:cNvSpPr/>
            <p:nvPr/>
          </p:nvSpPr>
          <p:spPr>
            <a:xfrm>
              <a:off x="0" y="0"/>
              <a:ext cx="1178269" cy="253098"/>
            </a:xfrm>
            <a:custGeom>
              <a:avLst/>
              <a:gdLst/>
              <a:ahLst/>
              <a:cxnLst/>
              <a:rect l="l" t="t" r="r" b="b"/>
              <a:pathLst>
                <a:path w="1178269" h="253098">
                  <a:moveTo>
                    <a:pt x="0" y="0"/>
                  </a:moveTo>
                  <a:lnTo>
                    <a:pt x="1178269" y="0"/>
                  </a:lnTo>
                  <a:lnTo>
                    <a:pt x="1178269" y="253098"/>
                  </a:lnTo>
                  <a:lnTo>
                    <a:pt x="0" y="253098"/>
                  </a:lnTo>
                  <a:close/>
                </a:path>
              </a:pathLst>
            </a:custGeom>
            <a:solidFill>
              <a:srgbClr val="194A8D"/>
            </a:solidFill>
          </p:spPr>
        </p:sp>
        <p:sp>
          <p:nvSpPr>
            <p:cNvPr id="24" name="TextBox 24"/>
            <p:cNvSpPr txBox="1"/>
            <p:nvPr/>
          </p:nvSpPr>
          <p:spPr>
            <a:xfrm>
              <a:off x="0" y="-47625"/>
              <a:ext cx="1178269" cy="300723"/>
            </a:xfrm>
            <a:prstGeom prst="rect">
              <a:avLst/>
            </a:prstGeom>
          </p:spPr>
          <p:txBody>
            <a:bodyPr lIns="50800" tIns="50800" rIns="50800" bIns="50800" rtlCol="0" anchor="ctr"/>
            <a:lstStyle/>
            <a:p>
              <a:pPr marL="0" lvl="0" indent="0" algn="ctr">
                <a:lnSpc>
                  <a:spcPts val="3424"/>
                </a:lnSpc>
                <a:spcBef>
                  <a:spcPct val="0"/>
                </a:spcBef>
              </a:pPr>
              <a:r>
                <a:rPr lang="en-US" sz="2481" i="1" spc="24">
                  <a:solidFill>
                    <a:srgbClr val="FFFFFF"/>
                  </a:solidFill>
                  <a:latin typeface="Open Sauce Italics"/>
                  <a:ea typeface="Open Sauce Italics"/>
                  <a:cs typeface="Open Sauce Italics"/>
                  <a:sym typeface="Open Sauce Italics"/>
                </a:rPr>
                <a:t>3. Lawyer Recommendation Module</a:t>
              </a:r>
            </a:p>
          </p:txBody>
        </p:sp>
      </p:grpSp>
      <p:grpSp>
        <p:nvGrpSpPr>
          <p:cNvPr id="25" name="Group 25"/>
          <p:cNvGrpSpPr/>
          <p:nvPr/>
        </p:nvGrpSpPr>
        <p:grpSpPr>
          <a:xfrm>
            <a:off x="11884638" y="7902043"/>
            <a:ext cx="4473739" cy="1763074"/>
            <a:chOff x="0" y="0"/>
            <a:chExt cx="1178269" cy="464349"/>
          </a:xfrm>
        </p:grpSpPr>
        <p:sp>
          <p:nvSpPr>
            <p:cNvPr id="26" name="Freeform 26"/>
            <p:cNvSpPr/>
            <p:nvPr/>
          </p:nvSpPr>
          <p:spPr>
            <a:xfrm>
              <a:off x="0" y="0"/>
              <a:ext cx="1178269" cy="464349"/>
            </a:xfrm>
            <a:custGeom>
              <a:avLst/>
              <a:gdLst/>
              <a:ahLst/>
              <a:cxnLst/>
              <a:rect l="l" t="t" r="r" b="b"/>
              <a:pathLst>
                <a:path w="1178269" h="464349">
                  <a:moveTo>
                    <a:pt x="0" y="0"/>
                  </a:moveTo>
                  <a:lnTo>
                    <a:pt x="1178269" y="0"/>
                  </a:lnTo>
                  <a:lnTo>
                    <a:pt x="1178269" y="464349"/>
                  </a:lnTo>
                  <a:lnTo>
                    <a:pt x="0" y="464349"/>
                  </a:lnTo>
                  <a:close/>
                </a:path>
              </a:pathLst>
            </a:custGeom>
            <a:solidFill>
              <a:srgbClr val="194A8D"/>
            </a:solidFill>
          </p:spPr>
        </p:sp>
        <p:sp>
          <p:nvSpPr>
            <p:cNvPr id="27" name="TextBox 27"/>
            <p:cNvSpPr txBox="1"/>
            <p:nvPr/>
          </p:nvSpPr>
          <p:spPr>
            <a:xfrm>
              <a:off x="0" y="-28575"/>
              <a:ext cx="1178269" cy="492924"/>
            </a:xfrm>
            <a:prstGeom prst="rect">
              <a:avLst/>
            </a:prstGeom>
          </p:spPr>
          <p:txBody>
            <a:bodyPr lIns="114300" tIns="114300" rIns="114300" bIns="114300" rtlCol="0" anchor="ctr"/>
            <a:lstStyle/>
            <a:p>
              <a:pPr marL="0" lvl="0" indent="0" algn="ctr">
                <a:lnSpc>
                  <a:spcPts val="2483"/>
                </a:lnSpc>
                <a:spcBef>
                  <a:spcPct val="0"/>
                </a:spcBef>
              </a:pPr>
              <a:r>
                <a:rPr lang="en-US" sz="1799" i="1" spc="17">
                  <a:solidFill>
                    <a:srgbClr val="FFFFFF"/>
                  </a:solidFill>
                  <a:latin typeface="Open Sauce Italics"/>
                  <a:ea typeface="Open Sauce Italics"/>
                  <a:cs typeface="Open Sauce Italics"/>
                  <a:sym typeface="Open Sauce Italics"/>
                </a:rPr>
                <a:t>“AI-Driven Conversational Agents in Legal Domain” (2024) — Shows chatbots helping users navigate legal processes but no lawyer search features.</a:t>
              </a:r>
            </a:p>
          </p:txBody>
        </p:sp>
      </p:grpSp>
      <p:sp>
        <p:nvSpPr>
          <p:cNvPr id="28" name="Freeform 28"/>
          <p:cNvSpPr/>
          <p:nvPr/>
        </p:nvSpPr>
        <p:spPr>
          <a:xfrm>
            <a:off x="15408481" y="-2153153"/>
            <a:ext cx="4116356" cy="4116356"/>
          </a:xfrm>
          <a:custGeom>
            <a:avLst/>
            <a:gdLst/>
            <a:ahLst/>
            <a:cxnLst/>
            <a:rect l="l" t="t" r="r" b="b"/>
            <a:pathLst>
              <a:path w="4116356" h="4116356">
                <a:moveTo>
                  <a:pt x="0" y="0"/>
                </a:moveTo>
                <a:lnTo>
                  <a:pt x="4116355" y="0"/>
                </a:lnTo>
                <a:lnTo>
                  <a:pt x="4116355" y="4116356"/>
                </a:lnTo>
                <a:lnTo>
                  <a:pt x="0" y="411635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29" name="Freeform 29"/>
          <p:cNvSpPr/>
          <p:nvPr/>
        </p:nvSpPr>
        <p:spPr>
          <a:xfrm>
            <a:off x="-2602379" y="0"/>
            <a:ext cx="3256087" cy="3256087"/>
          </a:xfrm>
          <a:custGeom>
            <a:avLst/>
            <a:gdLst/>
            <a:ahLst/>
            <a:cxnLst/>
            <a:rect l="l" t="t" r="r" b="b"/>
            <a:pathLst>
              <a:path w="3256087" h="3256087">
                <a:moveTo>
                  <a:pt x="0" y="0"/>
                </a:moveTo>
                <a:lnTo>
                  <a:pt x="3256087" y="0"/>
                </a:lnTo>
                <a:lnTo>
                  <a:pt x="3256087" y="3256087"/>
                </a:lnTo>
                <a:lnTo>
                  <a:pt x="0" y="3256087"/>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7274448" y="9525"/>
          <a:ext cx="11013552" cy="10277477"/>
        </p:xfrm>
        <a:graphic>
          <a:graphicData uri="http://schemas.openxmlformats.org/drawingml/2006/table">
            <a:tbl>
              <a:tblPr/>
              <a:tblGrid>
                <a:gridCol w="3671184">
                  <a:extLst>
                    <a:ext uri="{9D8B030D-6E8A-4147-A177-3AD203B41FA5}">
                      <a16:colId xmlns:a16="http://schemas.microsoft.com/office/drawing/2014/main" val="20000"/>
                    </a:ext>
                  </a:extLst>
                </a:gridCol>
                <a:gridCol w="3671184">
                  <a:extLst>
                    <a:ext uri="{9D8B030D-6E8A-4147-A177-3AD203B41FA5}">
                      <a16:colId xmlns:a16="http://schemas.microsoft.com/office/drawing/2014/main" val="20001"/>
                    </a:ext>
                  </a:extLst>
                </a:gridCol>
                <a:gridCol w="3671184">
                  <a:extLst>
                    <a:ext uri="{9D8B030D-6E8A-4147-A177-3AD203B41FA5}">
                      <a16:colId xmlns:a16="http://schemas.microsoft.com/office/drawing/2014/main" val="20002"/>
                    </a:ext>
                  </a:extLst>
                </a:gridCol>
              </a:tblGrid>
              <a:tr h="2261897">
                <a:tc>
                  <a:txBody>
                    <a:bodyPr/>
                    <a:lstStyle/>
                    <a:p>
                      <a:pPr algn="ctr">
                        <a:lnSpc>
                          <a:spcPts val="3919"/>
                        </a:lnSpc>
                        <a:defRPr/>
                      </a:pPr>
                      <a:r>
                        <a:rPr lang="en-US" sz="2799" b="1" i="1">
                          <a:solidFill>
                            <a:srgbClr val="1E1919"/>
                          </a:solidFill>
                          <a:latin typeface="TT Firs Neue Bold Italics"/>
                          <a:ea typeface="TT Firs Neue Bold Italics"/>
                          <a:cs typeface="TT Firs Neue Bold Italics"/>
                          <a:sym typeface="TT Firs Neue Bold Italics"/>
                        </a:rPr>
                        <a:t>System Name</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tc>
                  <a:txBody>
                    <a:bodyPr/>
                    <a:lstStyle/>
                    <a:p>
                      <a:pPr algn="ctr">
                        <a:lnSpc>
                          <a:spcPts val="3499"/>
                        </a:lnSpc>
                        <a:defRPr/>
                      </a:pPr>
                      <a:r>
                        <a:rPr lang="en-US" sz="2499" b="1">
                          <a:solidFill>
                            <a:srgbClr val="FDFBFB"/>
                          </a:solidFill>
                          <a:latin typeface="TT Firs Neue Bold"/>
                          <a:ea typeface="TT Firs Neue Bold"/>
                          <a:cs typeface="TT Firs Neue Bold"/>
                          <a:sym typeface="TT Firs Neue Bold"/>
                        </a:rPr>
                        <a:t>Features</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0345E4"/>
                    </a:solidFill>
                  </a:tcPr>
                </a:tc>
                <a:tc>
                  <a:txBody>
                    <a:bodyPr/>
                    <a:lstStyle/>
                    <a:p>
                      <a:pPr algn="ctr">
                        <a:lnSpc>
                          <a:spcPts val="3499"/>
                        </a:lnSpc>
                        <a:defRPr/>
                      </a:pPr>
                      <a:r>
                        <a:rPr lang="en-US" sz="2499" b="1">
                          <a:solidFill>
                            <a:srgbClr val="FDFBFB"/>
                          </a:solidFill>
                          <a:latin typeface="TT Firs Neue Bold"/>
                          <a:ea typeface="TT Firs Neue Bold"/>
                          <a:cs typeface="TT Firs Neue Bold"/>
                          <a:sym typeface="TT Firs Neue Bold"/>
                        </a:rPr>
                        <a:t>Limitations</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0345E4"/>
                    </a:solidFill>
                  </a:tcPr>
                </a:tc>
                <a:extLst>
                  <a:ext uri="{0D108BD9-81ED-4DB2-BD59-A6C34878D82A}">
                    <a16:rowId xmlns:a16="http://schemas.microsoft.com/office/drawing/2014/main" val="10000"/>
                  </a:ext>
                </a:extLst>
              </a:tr>
              <a:tr h="2003895">
                <a:tc>
                  <a:txBody>
                    <a:bodyPr/>
                    <a:lstStyle/>
                    <a:p>
                      <a:pPr algn="ctr">
                        <a:lnSpc>
                          <a:spcPts val="2799"/>
                        </a:lnSpc>
                        <a:defRPr/>
                      </a:pPr>
                      <a:r>
                        <a:rPr lang="en-US" sz="1999" b="1">
                          <a:solidFill>
                            <a:srgbClr val="FDFBFB"/>
                          </a:solidFill>
                          <a:latin typeface="TT Firs Neue Bold"/>
                          <a:ea typeface="TT Firs Neue Bold"/>
                          <a:cs typeface="TT Firs Neue Bold"/>
                          <a:sym typeface="TT Firs Neue Bold"/>
                        </a:rPr>
                        <a:t>NyayGuru (Free Legal Chatbot)</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0345E4"/>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Answers basic legal queries</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No document analysis, no lawyer search, limited accuracy, generic responses</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03895">
                <a:tc>
                  <a:txBody>
                    <a:bodyPr/>
                    <a:lstStyle/>
                    <a:p>
                      <a:pPr algn="ctr">
                        <a:lnSpc>
                          <a:spcPts val="2799"/>
                        </a:lnSpc>
                        <a:defRPr/>
                      </a:pPr>
                      <a:r>
                        <a:rPr lang="en-US" sz="1999" b="1">
                          <a:solidFill>
                            <a:srgbClr val="FDFBFB"/>
                          </a:solidFill>
                          <a:latin typeface="TT Firs Neue Bold"/>
                          <a:ea typeface="TT Firs Neue Bold"/>
                          <a:cs typeface="TT Firs Neue Bold"/>
                          <a:sym typeface="TT Firs Neue Bold"/>
                        </a:rPr>
                        <a:t>FreeLawyer AI</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0345E4"/>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Lawyer-related AI interface</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Currently non-functional, errors encountered, no legal QA or PDF support</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3895">
                <a:tc>
                  <a:txBody>
                    <a:bodyPr/>
                    <a:lstStyle/>
                    <a:p>
                      <a:pPr algn="ctr">
                        <a:lnSpc>
                          <a:spcPts val="2799"/>
                        </a:lnSpc>
                        <a:defRPr/>
                      </a:pPr>
                      <a:r>
                        <a:rPr lang="en-US" sz="1999" b="1">
                          <a:solidFill>
                            <a:srgbClr val="FDFBFB"/>
                          </a:solidFill>
                          <a:latin typeface="TT Firs Neue Bold"/>
                          <a:ea typeface="TT Firs Neue Bold"/>
                          <a:cs typeface="TT Firs Neue Bold"/>
                          <a:sym typeface="TT Firs Neue Bold"/>
                        </a:rPr>
                        <a:t>LawDroid / DoNotPay (International)</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0345E4"/>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Paid legal bots, form filling</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Paid tools, not Indian law-specific, no document indexing</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19050" cap="flat" cmpd="sng" algn="ctr">
                      <a:solidFill>
                        <a:srgbClr val="1E191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3895">
                <a:tc>
                  <a:txBody>
                    <a:bodyPr/>
                    <a:lstStyle/>
                    <a:p>
                      <a:pPr algn="ctr">
                        <a:lnSpc>
                          <a:spcPts val="2799"/>
                        </a:lnSpc>
                        <a:defRPr/>
                      </a:pPr>
                      <a:r>
                        <a:rPr lang="en-US" sz="1999" b="1">
                          <a:solidFill>
                            <a:srgbClr val="FDFBFB"/>
                          </a:solidFill>
                          <a:latin typeface="TT Firs Neue Bold"/>
                          <a:ea typeface="TT Firs Neue Bold"/>
                          <a:cs typeface="TT Firs Neue Bold"/>
                          <a:sym typeface="TT Firs Neue Bold"/>
                        </a:rPr>
                        <a:t>ChatGPT-like LLM Tools</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0" cap="flat" cmpd="sng" algn="ctr">
                      <a:solidFill>
                        <a:srgbClr val="1E1919"/>
                      </a:solidFill>
                      <a:prstDash val="solid"/>
                      <a:round/>
                      <a:headEnd type="none" w="med" len="med"/>
                      <a:tailEnd type="none" w="med" len="med"/>
                    </a:lnB>
                    <a:solidFill>
                      <a:srgbClr val="0345E4"/>
                    </a:solidFill>
                  </a:tcPr>
                </a:tc>
                <a:tc>
                  <a:txBody>
                    <a:bodyPr/>
                    <a:lstStyle/>
                    <a:p>
                      <a:pPr algn="ctr">
                        <a:lnSpc>
                          <a:spcPts val="2799"/>
                        </a:lnSpc>
                        <a:defRPr/>
                      </a:pPr>
                      <a:endParaRPr lang="en-US" sz="1100"/>
                    </a:p>
                    <a:p>
                      <a:pPr algn="ctr">
                        <a:lnSpc>
                          <a:spcPts val="2799"/>
                        </a:lnSpc>
                      </a:pPr>
                      <a:r>
                        <a:rPr lang="en-US" sz="1999">
                          <a:solidFill>
                            <a:srgbClr val="1E1919"/>
                          </a:solidFill>
                          <a:latin typeface="TT Firs Neue"/>
                          <a:ea typeface="TT Firs Neue"/>
                          <a:cs typeface="TT Firs Neue"/>
                          <a:sym typeface="TT Firs Neue"/>
                        </a:rPr>
                        <a:t>Generic Q&amp;A</a:t>
                      </a:r>
                    </a:p>
                    <a:p>
                      <a:pPr algn="ctr">
                        <a:lnSpc>
                          <a:spcPts val="2799"/>
                        </a:lnSpc>
                      </a:pPr>
                      <a:endParaRPr lang="en-US" sz="1999">
                        <a:solidFill>
                          <a:srgbClr val="1E1919"/>
                        </a:solidFill>
                        <a:latin typeface="TT Firs Neue"/>
                        <a:ea typeface="TT Firs Neue"/>
                        <a:cs typeface="TT Firs Neue"/>
                        <a:sym typeface="TT Firs Neue"/>
                      </a:endParaRPr>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0" cap="flat" cmpd="sng" algn="ctr">
                      <a:solidFill>
                        <a:srgbClr val="1E1919"/>
                      </a:solidFill>
                      <a:prstDash val="solid"/>
                      <a:round/>
                      <a:headEnd type="none" w="med" len="med"/>
                      <a:tailEnd type="none" w="med" len="med"/>
                    </a:lnB>
                    <a:solidFill>
                      <a:srgbClr val="FFFFFF"/>
                    </a:solidFill>
                  </a:tcPr>
                </a:tc>
                <a:tc>
                  <a:txBody>
                    <a:bodyPr/>
                    <a:lstStyle/>
                    <a:p>
                      <a:pPr algn="ctr">
                        <a:lnSpc>
                          <a:spcPts val="2799"/>
                        </a:lnSpc>
                        <a:defRPr/>
                      </a:pPr>
                      <a:r>
                        <a:rPr lang="en-US" sz="1999">
                          <a:solidFill>
                            <a:srgbClr val="1E1919"/>
                          </a:solidFill>
                          <a:latin typeface="TT Firs Neue"/>
                          <a:ea typeface="TT Firs Neue"/>
                          <a:cs typeface="TT Firs Neue"/>
                          <a:sym typeface="TT Firs Neue"/>
                        </a:rPr>
                        <a:t>Hallucinates laws, no legal database, not specialized</a:t>
                      </a:r>
                      <a:endParaRPr lang="en-US" sz="1100"/>
                    </a:p>
                  </a:txBody>
                  <a:tcPr marL="190500" marR="190500" marT="190500" marB="190500" anchor="ctr">
                    <a:lnL w="19050" cap="flat" cmpd="sng" algn="ctr">
                      <a:solidFill>
                        <a:srgbClr val="1E1919"/>
                      </a:solidFill>
                      <a:prstDash val="solid"/>
                      <a:round/>
                      <a:headEnd type="none" w="med" len="med"/>
                      <a:tailEnd type="none" w="med" len="med"/>
                    </a:lnL>
                    <a:lnR w="19050" cap="flat" cmpd="sng" algn="ctr">
                      <a:solidFill>
                        <a:srgbClr val="1E1919"/>
                      </a:solidFill>
                      <a:prstDash val="solid"/>
                      <a:round/>
                      <a:headEnd type="none" w="med" len="med"/>
                      <a:tailEnd type="none" w="med" len="med"/>
                    </a:lnR>
                    <a:lnT w="19050" cap="flat" cmpd="sng" algn="ctr">
                      <a:solidFill>
                        <a:srgbClr val="1E1919"/>
                      </a:solidFill>
                      <a:prstDash val="solid"/>
                      <a:round/>
                      <a:headEnd type="none" w="med" len="med"/>
                      <a:tailEnd type="none" w="med" len="med"/>
                    </a:lnT>
                    <a:lnB w="0" cap="flat" cmpd="sng" algn="ctr">
                      <a:solidFill>
                        <a:srgbClr val="1E191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pSp>
        <p:nvGrpSpPr>
          <p:cNvPr id="3" name="Group 3"/>
          <p:cNvGrpSpPr/>
          <p:nvPr/>
        </p:nvGrpSpPr>
        <p:grpSpPr>
          <a:xfrm>
            <a:off x="1567743" y="7384863"/>
            <a:ext cx="5330754" cy="3120121"/>
            <a:chOff x="0" y="0"/>
            <a:chExt cx="7902530" cy="4625396"/>
          </a:xfrm>
        </p:grpSpPr>
        <p:sp>
          <p:nvSpPr>
            <p:cNvPr id="4" name="Freeform 4"/>
            <p:cNvSpPr/>
            <p:nvPr/>
          </p:nvSpPr>
          <p:spPr>
            <a:xfrm>
              <a:off x="0" y="0"/>
              <a:ext cx="7902530" cy="4625396"/>
            </a:xfrm>
            <a:custGeom>
              <a:avLst/>
              <a:gdLst/>
              <a:ahLst/>
              <a:cxnLst/>
              <a:rect l="l" t="t" r="r" b="b"/>
              <a:pathLst>
                <a:path w="7902530" h="4625396">
                  <a:moveTo>
                    <a:pt x="43569" y="0"/>
                  </a:moveTo>
                  <a:lnTo>
                    <a:pt x="7858961" y="0"/>
                  </a:lnTo>
                  <a:cubicBezTo>
                    <a:pt x="7870516" y="0"/>
                    <a:pt x="7881598" y="4590"/>
                    <a:pt x="7889769" y="12761"/>
                  </a:cubicBezTo>
                  <a:cubicBezTo>
                    <a:pt x="7897940" y="20932"/>
                    <a:pt x="7902530" y="32014"/>
                    <a:pt x="7902530" y="43569"/>
                  </a:cubicBezTo>
                  <a:lnTo>
                    <a:pt x="7902530" y="4581827"/>
                  </a:lnTo>
                  <a:cubicBezTo>
                    <a:pt x="7902530" y="4593382"/>
                    <a:pt x="7897940" y="4604464"/>
                    <a:pt x="7889769" y="4612635"/>
                  </a:cubicBezTo>
                  <a:cubicBezTo>
                    <a:pt x="7881598" y="4620806"/>
                    <a:pt x="7870516" y="4625396"/>
                    <a:pt x="7858961" y="4625396"/>
                  </a:cubicBezTo>
                  <a:lnTo>
                    <a:pt x="43569" y="4625396"/>
                  </a:lnTo>
                  <a:cubicBezTo>
                    <a:pt x="32014" y="4625396"/>
                    <a:pt x="20932" y="4620806"/>
                    <a:pt x="12761" y="4612635"/>
                  </a:cubicBezTo>
                  <a:cubicBezTo>
                    <a:pt x="4590" y="4604464"/>
                    <a:pt x="0" y="4593382"/>
                    <a:pt x="0" y="4581827"/>
                  </a:cubicBezTo>
                  <a:lnTo>
                    <a:pt x="0" y="43569"/>
                  </a:lnTo>
                  <a:cubicBezTo>
                    <a:pt x="0" y="32014"/>
                    <a:pt x="4590" y="20932"/>
                    <a:pt x="12761" y="12761"/>
                  </a:cubicBezTo>
                  <a:cubicBezTo>
                    <a:pt x="20932" y="4590"/>
                    <a:pt x="32014" y="0"/>
                    <a:pt x="43569" y="0"/>
                  </a:cubicBezTo>
                  <a:close/>
                </a:path>
              </a:pathLst>
            </a:custGeom>
            <a:solidFill>
              <a:srgbClr val="FFFFFF"/>
            </a:solidFill>
            <a:ln w="19050" cap="rnd">
              <a:solidFill>
                <a:srgbClr val="1E1919"/>
              </a:solidFill>
              <a:prstDash val="solid"/>
              <a:round/>
            </a:ln>
          </p:spPr>
        </p:sp>
        <p:sp>
          <p:nvSpPr>
            <p:cNvPr id="5" name="TextBox 5"/>
            <p:cNvSpPr txBox="1"/>
            <p:nvPr/>
          </p:nvSpPr>
          <p:spPr>
            <a:xfrm>
              <a:off x="0" y="-28575"/>
              <a:ext cx="7902530" cy="4653971"/>
            </a:xfrm>
            <a:prstGeom prst="rect">
              <a:avLst/>
            </a:prstGeom>
          </p:spPr>
          <p:txBody>
            <a:bodyPr lIns="254000" tIns="254000" rIns="254000" bIns="254000" rtlCol="0" anchor="ctr"/>
            <a:lstStyle/>
            <a:p>
              <a:pPr algn="l">
                <a:lnSpc>
                  <a:spcPts val="2380"/>
                </a:lnSpc>
              </a:pPr>
              <a:r>
                <a:rPr lang="en-US" sz="1700" b="1">
                  <a:solidFill>
                    <a:srgbClr val="1E1919"/>
                  </a:solidFill>
                  <a:latin typeface="TT Firs Neue Bold"/>
                  <a:ea typeface="TT Firs Neue Bold"/>
                  <a:cs typeface="TT Firs Neue Bold"/>
                  <a:sym typeface="TT Firs Neue Bold"/>
                </a:rPr>
                <a:t>Existing legal chatbots provide only one service (legal QA or simple guidance).</a:t>
              </a:r>
            </a:p>
            <a:p>
              <a:pPr algn="l">
                <a:lnSpc>
                  <a:spcPts val="2380"/>
                </a:lnSpc>
              </a:pPr>
              <a:r>
                <a:rPr lang="en-US" sz="1700" b="1">
                  <a:solidFill>
                    <a:srgbClr val="1E1919"/>
                  </a:solidFill>
                  <a:latin typeface="TT Firs Neue Bold"/>
                  <a:ea typeface="TT Firs Neue Bold"/>
                  <a:cs typeface="TT Firs Neue Bold"/>
                  <a:sym typeface="TT Firs Neue Bold"/>
                </a:rPr>
                <a:t> But users need all 3 critical services in one place:</a:t>
              </a:r>
            </a:p>
            <a:p>
              <a:pPr marL="367032" lvl="1" indent="-183516" algn="l">
                <a:lnSpc>
                  <a:spcPts val="2380"/>
                </a:lnSpc>
                <a:buFont typeface="Arial"/>
                <a:buChar char="•"/>
              </a:pPr>
              <a:r>
                <a:rPr lang="en-US" sz="1700" b="1">
                  <a:solidFill>
                    <a:srgbClr val="1E1919"/>
                  </a:solidFill>
                  <a:latin typeface="TT Firs Neue Bold"/>
                  <a:ea typeface="TT Firs Neue Bold"/>
                  <a:cs typeface="TT Firs Neue Bold"/>
                  <a:sym typeface="TT Firs Neue Bold"/>
                </a:rPr>
                <a:t>Document Analysis</a:t>
              </a:r>
            </a:p>
            <a:p>
              <a:pPr marL="367032" lvl="1" indent="-183516" algn="l">
                <a:lnSpc>
                  <a:spcPts val="2380"/>
                </a:lnSpc>
                <a:buFont typeface="Arial"/>
                <a:buChar char="•"/>
              </a:pPr>
              <a:r>
                <a:rPr lang="en-US" sz="1700" b="1">
                  <a:solidFill>
                    <a:srgbClr val="1E1919"/>
                  </a:solidFill>
                  <a:latin typeface="TT Firs Neue Bold"/>
                  <a:ea typeface="TT Firs Neue Bold"/>
                  <a:cs typeface="TT Firs Neue Bold"/>
                  <a:sym typeface="TT Firs Neue Bold"/>
                </a:rPr>
                <a:t>Legal Question Answering</a:t>
              </a:r>
            </a:p>
            <a:p>
              <a:pPr marL="367032" lvl="1" indent="-183516" algn="l">
                <a:lnSpc>
                  <a:spcPts val="2380"/>
                </a:lnSpc>
                <a:buFont typeface="Arial"/>
                <a:buChar char="•"/>
              </a:pPr>
              <a:r>
                <a:rPr lang="en-US" sz="1700" b="1">
                  <a:solidFill>
                    <a:srgbClr val="1E1919"/>
                  </a:solidFill>
                  <a:latin typeface="TT Firs Neue Bold"/>
                  <a:ea typeface="TT Firs Neue Bold"/>
                  <a:cs typeface="TT Firs Neue Bold"/>
                  <a:sym typeface="TT Firs Neue Bold"/>
                </a:rPr>
                <a:t>Lawyer Search</a:t>
              </a:r>
            </a:p>
            <a:p>
              <a:pPr algn="l">
                <a:lnSpc>
                  <a:spcPts val="2380"/>
                </a:lnSpc>
              </a:pPr>
              <a:r>
                <a:rPr lang="en-US" sz="1700" b="1">
                  <a:solidFill>
                    <a:srgbClr val="1E1919"/>
                  </a:solidFill>
                  <a:latin typeface="TT Firs Neue Bold"/>
                  <a:ea typeface="TT Firs Neue Bold"/>
                  <a:cs typeface="TT Firs Neue Bold"/>
                  <a:sym typeface="TT Firs Neue Bold"/>
                </a:rPr>
                <a:t>No existing free tool combines all of these.</a:t>
              </a:r>
            </a:p>
            <a:p>
              <a:pPr algn="l">
                <a:lnSpc>
                  <a:spcPts val="2380"/>
                </a:lnSpc>
              </a:pPr>
              <a:endParaRPr lang="en-US" sz="1700" b="1">
                <a:solidFill>
                  <a:srgbClr val="1E1919"/>
                </a:solidFill>
                <a:latin typeface="TT Firs Neue Bold"/>
                <a:ea typeface="TT Firs Neue Bold"/>
                <a:cs typeface="TT Firs Neue Bold"/>
                <a:sym typeface="TT Firs Neue Bold"/>
              </a:endParaRPr>
            </a:p>
          </p:txBody>
        </p:sp>
      </p:grpSp>
      <p:grpSp>
        <p:nvGrpSpPr>
          <p:cNvPr id="6" name="Group 6"/>
          <p:cNvGrpSpPr/>
          <p:nvPr/>
        </p:nvGrpSpPr>
        <p:grpSpPr>
          <a:xfrm>
            <a:off x="304675" y="6789648"/>
            <a:ext cx="2526135" cy="784512"/>
            <a:chOff x="0" y="0"/>
            <a:chExt cx="665320" cy="206620"/>
          </a:xfrm>
        </p:grpSpPr>
        <p:sp>
          <p:nvSpPr>
            <p:cNvPr id="7" name="Freeform 7"/>
            <p:cNvSpPr/>
            <p:nvPr/>
          </p:nvSpPr>
          <p:spPr>
            <a:xfrm>
              <a:off x="0" y="0"/>
              <a:ext cx="665320" cy="206620"/>
            </a:xfrm>
            <a:custGeom>
              <a:avLst/>
              <a:gdLst/>
              <a:ahLst/>
              <a:cxnLst/>
              <a:rect l="l" t="t" r="r" b="b"/>
              <a:pathLst>
                <a:path w="665320" h="206620">
                  <a:moveTo>
                    <a:pt x="103310" y="0"/>
                  </a:moveTo>
                  <a:lnTo>
                    <a:pt x="562009" y="0"/>
                  </a:lnTo>
                  <a:cubicBezTo>
                    <a:pt x="619066" y="0"/>
                    <a:pt x="665320" y="46254"/>
                    <a:pt x="665320" y="103310"/>
                  </a:cubicBezTo>
                  <a:lnTo>
                    <a:pt x="665320" y="103310"/>
                  </a:lnTo>
                  <a:cubicBezTo>
                    <a:pt x="665320" y="130710"/>
                    <a:pt x="654435" y="156987"/>
                    <a:pt x="635061" y="176362"/>
                  </a:cubicBezTo>
                  <a:cubicBezTo>
                    <a:pt x="615686" y="195736"/>
                    <a:pt x="589409" y="206620"/>
                    <a:pt x="562009" y="206620"/>
                  </a:cubicBezTo>
                  <a:lnTo>
                    <a:pt x="103310" y="206620"/>
                  </a:lnTo>
                  <a:cubicBezTo>
                    <a:pt x="75911" y="206620"/>
                    <a:pt x="49633" y="195736"/>
                    <a:pt x="30259" y="176362"/>
                  </a:cubicBezTo>
                  <a:cubicBezTo>
                    <a:pt x="10884" y="156987"/>
                    <a:pt x="0" y="130710"/>
                    <a:pt x="0" y="103310"/>
                  </a:cubicBezTo>
                  <a:lnTo>
                    <a:pt x="0" y="103310"/>
                  </a:lnTo>
                  <a:cubicBezTo>
                    <a:pt x="0" y="75911"/>
                    <a:pt x="10884" y="49633"/>
                    <a:pt x="30259" y="30259"/>
                  </a:cubicBezTo>
                  <a:cubicBezTo>
                    <a:pt x="49633" y="10884"/>
                    <a:pt x="75911" y="0"/>
                    <a:pt x="103310" y="0"/>
                  </a:cubicBezTo>
                  <a:close/>
                </a:path>
              </a:pathLst>
            </a:custGeom>
            <a:solidFill>
              <a:srgbClr val="0345E4"/>
            </a:solidFill>
          </p:spPr>
        </p:sp>
        <p:sp>
          <p:nvSpPr>
            <p:cNvPr id="8" name="TextBox 8"/>
            <p:cNvSpPr txBox="1"/>
            <p:nvPr/>
          </p:nvSpPr>
          <p:spPr>
            <a:xfrm>
              <a:off x="0" y="-38100"/>
              <a:ext cx="665320" cy="244720"/>
            </a:xfrm>
            <a:prstGeom prst="rect">
              <a:avLst/>
            </a:prstGeom>
          </p:spPr>
          <p:txBody>
            <a:bodyPr lIns="254000" tIns="254000" rIns="254000" bIns="254000" rtlCol="0" anchor="ctr"/>
            <a:lstStyle/>
            <a:p>
              <a:pPr algn="ctr">
                <a:lnSpc>
                  <a:spcPts val="2799"/>
                </a:lnSpc>
              </a:pPr>
              <a:r>
                <a:rPr lang="en-US" sz="1999" b="1" u="sng">
                  <a:solidFill>
                    <a:srgbClr val="FDFBFB"/>
                  </a:solidFill>
                  <a:latin typeface="TT Firs Neue Bold"/>
                  <a:ea typeface="TT Firs Neue Bold"/>
                  <a:cs typeface="TT Firs Neue Bold"/>
                  <a:sym typeface="TT Firs Neue Bold"/>
                </a:rPr>
                <a:t>Gap Identified</a:t>
              </a:r>
            </a:p>
          </p:txBody>
        </p:sp>
      </p:grpSp>
      <p:sp>
        <p:nvSpPr>
          <p:cNvPr id="9" name="Freeform 9"/>
          <p:cNvSpPr/>
          <p:nvPr/>
        </p:nvSpPr>
        <p:spPr>
          <a:xfrm>
            <a:off x="1792065" y="756806"/>
            <a:ext cx="2342445" cy="1665265"/>
          </a:xfrm>
          <a:custGeom>
            <a:avLst/>
            <a:gdLst/>
            <a:ahLst/>
            <a:cxnLst/>
            <a:rect l="l" t="t" r="r" b="b"/>
            <a:pathLst>
              <a:path w="2342445" h="1665265">
                <a:moveTo>
                  <a:pt x="0" y="0"/>
                </a:moveTo>
                <a:lnTo>
                  <a:pt x="2342445" y="0"/>
                </a:lnTo>
                <a:lnTo>
                  <a:pt x="2342445" y="1665265"/>
                </a:lnTo>
                <a:lnTo>
                  <a:pt x="0" y="166526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924439" y="2860221"/>
            <a:ext cx="5297524" cy="3505183"/>
          </a:xfrm>
          <a:prstGeom prst="rect">
            <a:avLst/>
          </a:prstGeom>
        </p:spPr>
        <p:txBody>
          <a:bodyPr lIns="0" tIns="0" rIns="0" bIns="0" rtlCol="0" anchor="t">
            <a:spAutoFit/>
          </a:bodyPr>
          <a:lstStyle/>
          <a:p>
            <a:pPr algn="l">
              <a:lnSpc>
                <a:spcPts val="9240"/>
              </a:lnSpc>
            </a:pPr>
            <a:r>
              <a:rPr lang="en-US" sz="7700" b="1">
                <a:solidFill>
                  <a:srgbClr val="1E1919"/>
                </a:solidFill>
                <a:latin typeface="TT Firs Neue Bold"/>
                <a:ea typeface="TT Firs Neue Bold"/>
                <a:cs typeface="TT Firs Neue Bold"/>
                <a:sym typeface="TT Firs Neue Bold"/>
              </a:rPr>
              <a:t>Existing System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24115" y="6421613"/>
            <a:ext cx="20136229" cy="4506944"/>
            <a:chOff x="0" y="0"/>
            <a:chExt cx="5303369" cy="1187014"/>
          </a:xfrm>
        </p:grpSpPr>
        <p:sp>
          <p:nvSpPr>
            <p:cNvPr id="3" name="Freeform 3"/>
            <p:cNvSpPr/>
            <p:nvPr/>
          </p:nvSpPr>
          <p:spPr>
            <a:xfrm>
              <a:off x="0" y="0"/>
              <a:ext cx="5303369" cy="1187014"/>
            </a:xfrm>
            <a:custGeom>
              <a:avLst/>
              <a:gdLst/>
              <a:ahLst/>
              <a:cxnLst/>
              <a:rect l="l" t="t" r="r" b="b"/>
              <a:pathLst>
                <a:path w="5303369" h="1187014">
                  <a:moveTo>
                    <a:pt x="0" y="0"/>
                  </a:moveTo>
                  <a:lnTo>
                    <a:pt x="5303369" y="0"/>
                  </a:lnTo>
                  <a:lnTo>
                    <a:pt x="5303369" y="1187014"/>
                  </a:lnTo>
                  <a:lnTo>
                    <a:pt x="0" y="1187014"/>
                  </a:lnTo>
                  <a:close/>
                </a:path>
              </a:pathLst>
            </a:custGeom>
            <a:solidFill>
              <a:srgbClr val="0345E4"/>
            </a:solidFill>
          </p:spPr>
        </p:sp>
        <p:sp>
          <p:nvSpPr>
            <p:cNvPr id="4" name="TextBox 4"/>
            <p:cNvSpPr txBox="1"/>
            <p:nvPr/>
          </p:nvSpPr>
          <p:spPr>
            <a:xfrm>
              <a:off x="0" y="-47625"/>
              <a:ext cx="5303369" cy="1234639"/>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10248900" y="2436168"/>
            <a:ext cx="4614082" cy="628343"/>
            <a:chOff x="0" y="0"/>
            <a:chExt cx="1215231" cy="165490"/>
          </a:xfrm>
        </p:grpSpPr>
        <p:sp>
          <p:nvSpPr>
            <p:cNvPr id="6" name="Freeform 6"/>
            <p:cNvSpPr/>
            <p:nvPr/>
          </p:nvSpPr>
          <p:spPr>
            <a:xfrm>
              <a:off x="0" y="0"/>
              <a:ext cx="1215231" cy="165490"/>
            </a:xfrm>
            <a:custGeom>
              <a:avLst/>
              <a:gdLst/>
              <a:ahLst/>
              <a:cxnLst/>
              <a:rect l="l" t="t" r="r" b="b"/>
              <a:pathLst>
                <a:path w="1215231" h="165490">
                  <a:moveTo>
                    <a:pt x="36914" y="0"/>
                  </a:moveTo>
                  <a:lnTo>
                    <a:pt x="1178318" y="0"/>
                  </a:lnTo>
                  <a:cubicBezTo>
                    <a:pt x="1188108" y="0"/>
                    <a:pt x="1197497" y="3889"/>
                    <a:pt x="1204420" y="10812"/>
                  </a:cubicBezTo>
                  <a:cubicBezTo>
                    <a:pt x="1211342" y="17734"/>
                    <a:pt x="1215231" y="27123"/>
                    <a:pt x="1215231" y="36914"/>
                  </a:cubicBezTo>
                  <a:lnTo>
                    <a:pt x="1215231" y="128576"/>
                  </a:lnTo>
                  <a:cubicBezTo>
                    <a:pt x="1215231" y="148963"/>
                    <a:pt x="1198705" y="165490"/>
                    <a:pt x="1178318" y="165490"/>
                  </a:cubicBezTo>
                  <a:lnTo>
                    <a:pt x="36914" y="165490"/>
                  </a:lnTo>
                  <a:cubicBezTo>
                    <a:pt x="27123" y="165490"/>
                    <a:pt x="17734" y="161601"/>
                    <a:pt x="10812" y="154678"/>
                  </a:cubicBezTo>
                  <a:cubicBezTo>
                    <a:pt x="3889" y="147755"/>
                    <a:pt x="0" y="138366"/>
                    <a:pt x="0" y="128576"/>
                  </a:cubicBezTo>
                  <a:lnTo>
                    <a:pt x="0" y="36914"/>
                  </a:lnTo>
                  <a:cubicBezTo>
                    <a:pt x="0" y="27123"/>
                    <a:pt x="3889" y="17734"/>
                    <a:pt x="10812" y="10812"/>
                  </a:cubicBezTo>
                  <a:cubicBezTo>
                    <a:pt x="17734" y="3889"/>
                    <a:pt x="27123" y="0"/>
                    <a:pt x="36914" y="0"/>
                  </a:cubicBezTo>
                  <a:close/>
                </a:path>
              </a:pathLst>
            </a:custGeom>
            <a:solidFill>
              <a:srgbClr val="0345E4"/>
            </a:solidFill>
          </p:spPr>
        </p:sp>
        <p:sp>
          <p:nvSpPr>
            <p:cNvPr id="7" name="TextBox 7"/>
            <p:cNvSpPr txBox="1"/>
            <p:nvPr/>
          </p:nvSpPr>
          <p:spPr>
            <a:xfrm>
              <a:off x="0" y="-47625"/>
              <a:ext cx="1215231" cy="213115"/>
            </a:xfrm>
            <a:prstGeom prst="rect">
              <a:avLst/>
            </a:prstGeom>
          </p:spPr>
          <p:txBody>
            <a:bodyPr lIns="50800" tIns="50800" rIns="50800" bIns="50800" rtlCol="0" anchor="ctr"/>
            <a:lstStyle/>
            <a:p>
              <a:pPr algn="ctr">
                <a:lnSpc>
                  <a:spcPts val="3499"/>
                </a:lnSpc>
              </a:pPr>
              <a:endParaRPr/>
            </a:p>
          </p:txBody>
        </p:sp>
      </p:grpSp>
      <p:grpSp>
        <p:nvGrpSpPr>
          <p:cNvPr id="8" name="Group 8"/>
          <p:cNvGrpSpPr/>
          <p:nvPr/>
        </p:nvGrpSpPr>
        <p:grpSpPr>
          <a:xfrm>
            <a:off x="11734800" y="3597619"/>
            <a:ext cx="4114800" cy="628343"/>
            <a:chOff x="0" y="0"/>
            <a:chExt cx="2149330" cy="197593"/>
          </a:xfrm>
        </p:grpSpPr>
        <p:sp>
          <p:nvSpPr>
            <p:cNvPr id="9" name="Freeform 9"/>
            <p:cNvSpPr/>
            <p:nvPr/>
          </p:nvSpPr>
          <p:spPr>
            <a:xfrm>
              <a:off x="0" y="0"/>
              <a:ext cx="2149330" cy="197593"/>
            </a:xfrm>
            <a:custGeom>
              <a:avLst/>
              <a:gdLst/>
              <a:ahLst/>
              <a:cxnLst/>
              <a:rect l="l" t="t" r="r" b="b"/>
              <a:pathLst>
                <a:path w="2149330" h="197593">
                  <a:moveTo>
                    <a:pt x="20871" y="0"/>
                  </a:moveTo>
                  <a:lnTo>
                    <a:pt x="2128459" y="0"/>
                  </a:lnTo>
                  <a:cubicBezTo>
                    <a:pt x="2133994" y="0"/>
                    <a:pt x="2139303" y="2199"/>
                    <a:pt x="2143217" y="6113"/>
                  </a:cubicBezTo>
                  <a:cubicBezTo>
                    <a:pt x="2147131" y="10027"/>
                    <a:pt x="2149330" y="15336"/>
                    <a:pt x="2149330" y="20871"/>
                  </a:cubicBezTo>
                  <a:lnTo>
                    <a:pt x="2149330" y="176722"/>
                  </a:lnTo>
                  <a:cubicBezTo>
                    <a:pt x="2149330" y="182257"/>
                    <a:pt x="2147131" y="187566"/>
                    <a:pt x="2143217" y="191480"/>
                  </a:cubicBezTo>
                  <a:cubicBezTo>
                    <a:pt x="2139303" y="195394"/>
                    <a:pt x="2133994" y="197593"/>
                    <a:pt x="2128459" y="197593"/>
                  </a:cubicBezTo>
                  <a:lnTo>
                    <a:pt x="20871" y="197593"/>
                  </a:lnTo>
                  <a:cubicBezTo>
                    <a:pt x="15336" y="197593"/>
                    <a:pt x="10027" y="195394"/>
                    <a:pt x="6113" y="191480"/>
                  </a:cubicBezTo>
                  <a:cubicBezTo>
                    <a:pt x="2199" y="187566"/>
                    <a:pt x="0" y="182257"/>
                    <a:pt x="0" y="176722"/>
                  </a:cubicBezTo>
                  <a:lnTo>
                    <a:pt x="0" y="20871"/>
                  </a:lnTo>
                  <a:cubicBezTo>
                    <a:pt x="0" y="15336"/>
                    <a:pt x="2199" y="10027"/>
                    <a:pt x="6113" y="6113"/>
                  </a:cubicBezTo>
                  <a:cubicBezTo>
                    <a:pt x="10027" y="2199"/>
                    <a:pt x="15336" y="0"/>
                    <a:pt x="20871" y="0"/>
                  </a:cubicBezTo>
                  <a:close/>
                </a:path>
              </a:pathLst>
            </a:custGeom>
            <a:solidFill>
              <a:srgbClr val="0345E4"/>
            </a:solidFill>
          </p:spPr>
        </p:sp>
        <p:sp>
          <p:nvSpPr>
            <p:cNvPr id="10" name="TextBox 10"/>
            <p:cNvSpPr txBox="1"/>
            <p:nvPr/>
          </p:nvSpPr>
          <p:spPr>
            <a:xfrm>
              <a:off x="0" y="-47625"/>
              <a:ext cx="2149330" cy="245218"/>
            </a:xfrm>
            <a:prstGeom prst="rect">
              <a:avLst/>
            </a:prstGeom>
          </p:spPr>
          <p:txBody>
            <a:bodyPr lIns="50800" tIns="50800" rIns="50800" bIns="50800" rtlCol="0" anchor="ctr"/>
            <a:lstStyle/>
            <a:p>
              <a:pPr algn="ctr">
                <a:lnSpc>
                  <a:spcPts val="3499"/>
                </a:lnSpc>
              </a:pPr>
              <a:endParaRPr/>
            </a:p>
          </p:txBody>
        </p:sp>
      </p:grpSp>
      <p:grpSp>
        <p:nvGrpSpPr>
          <p:cNvPr id="11" name="Group 11"/>
          <p:cNvGrpSpPr/>
          <p:nvPr/>
        </p:nvGrpSpPr>
        <p:grpSpPr>
          <a:xfrm>
            <a:off x="2261241" y="6531491"/>
            <a:ext cx="2224823" cy="596970"/>
            <a:chOff x="0" y="0"/>
            <a:chExt cx="585962" cy="157227"/>
          </a:xfrm>
        </p:grpSpPr>
        <p:sp>
          <p:nvSpPr>
            <p:cNvPr id="12" name="Freeform 12"/>
            <p:cNvSpPr/>
            <p:nvPr/>
          </p:nvSpPr>
          <p:spPr>
            <a:xfrm>
              <a:off x="0" y="0"/>
              <a:ext cx="585962" cy="157227"/>
            </a:xfrm>
            <a:custGeom>
              <a:avLst/>
              <a:gdLst/>
              <a:ahLst/>
              <a:cxnLst/>
              <a:rect l="l" t="t" r="r" b="b"/>
              <a:pathLst>
                <a:path w="585962" h="157227">
                  <a:moveTo>
                    <a:pt x="76555" y="0"/>
                  </a:moveTo>
                  <a:lnTo>
                    <a:pt x="509406" y="0"/>
                  </a:lnTo>
                  <a:cubicBezTo>
                    <a:pt x="529710" y="0"/>
                    <a:pt x="549182" y="8066"/>
                    <a:pt x="563539" y="22423"/>
                  </a:cubicBezTo>
                  <a:cubicBezTo>
                    <a:pt x="577896" y="36779"/>
                    <a:pt x="585962" y="56252"/>
                    <a:pt x="585962" y="76555"/>
                  </a:cubicBezTo>
                  <a:lnTo>
                    <a:pt x="585962" y="80671"/>
                  </a:lnTo>
                  <a:cubicBezTo>
                    <a:pt x="585962" y="122952"/>
                    <a:pt x="551687" y="157227"/>
                    <a:pt x="509406" y="157227"/>
                  </a:cubicBezTo>
                  <a:lnTo>
                    <a:pt x="76555" y="157227"/>
                  </a:lnTo>
                  <a:cubicBezTo>
                    <a:pt x="34275" y="157227"/>
                    <a:pt x="0" y="122952"/>
                    <a:pt x="0" y="80671"/>
                  </a:cubicBezTo>
                  <a:lnTo>
                    <a:pt x="0" y="76555"/>
                  </a:lnTo>
                  <a:cubicBezTo>
                    <a:pt x="0" y="34275"/>
                    <a:pt x="34275" y="0"/>
                    <a:pt x="76555" y="0"/>
                  </a:cubicBezTo>
                  <a:close/>
                </a:path>
              </a:pathLst>
            </a:custGeom>
            <a:solidFill>
              <a:srgbClr val="000000"/>
            </a:solidFill>
          </p:spPr>
        </p:sp>
        <p:sp>
          <p:nvSpPr>
            <p:cNvPr id="13" name="TextBox 13"/>
            <p:cNvSpPr txBox="1"/>
            <p:nvPr/>
          </p:nvSpPr>
          <p:spPr>
            <a:xfrm>
              <a:off x="0" y="-47625"/>
              <a:ext cx="585962" cy="204852"/>
            </a:xfrm>
            <a:prstGeom prst="rect">
              <a:avLst/>
            </a:prstGeom>
          </p:spPr>
          <p:txBody>
            <a:bodyPr lIns="50800" tIns="50800" rIns="50800" bIns="50800" rtlCol="0" anchor="ctr"/>
            <a:lstStyle/>
            <a:p>
              <a:pPr algn="ctr">
                <a:lnSpc>
                  <a:spcPts val="3499"/>
                </a:lnSpc>
              </a:pPr>
              <a:endParaRPr/>
            </a:p>
          </p:txBody>
        </p:sp>
      </p:grpSp>
      <p:grpSp>
        <p:nvGrpSpPr>
          <p:cNvPr id="14" name="Group 14"/>
          <p:cNvGrpSpPr/>
          <p:nvPr/>
        </p:nvGrpSpPr>
        <p:grpSpPr>
          <a:xfrm>
            <a:off x="-640337" y="-1218468"/>
            <a:ext cx="9274800" cy="2083136"/>
            <a:chOff x="0" y="0"/>
            <a:chExt cx="2442746" cy="548645"/>
          </a:xfrm>
        </p:grpSpPr>
        <p:sp>
          <p:nvSpPr>
            <p:cNvPr id="15" name="Freeform 15"/>
            <p:cNvSpPr/>
            <p:nvPr/>
          </p:nvSpPr>
          <p:spPr>
            <a:xfrm>
              <a:off x="0" y="0"/>
              <a:ext cx="2442746" cy="548645"/>
            </a:xfrm>
            <a:custGeom>
              <a:avLst/>
              <a:gdLst/>
              <a:ahLst/>
              <a:cxnLst/>
              <a:rect l="l" t="t" r="r" b="b"/>
              <a:pathLst>
                <a:path w="2442746" h="548645">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0345E4"/>
            </a:solidFill>
          </p:spPr>
        </p:sp>
        <p:sp>
          <p:nvSpPr>
            <p:cNvPr id="16" name="TextBox 16"/>
            <p:cNvSpPr txBox="1"/>
            <p:nvPr/>
          </p:nvSpPr>
          <p:spPr>
            <a:xfrm>
              <a:off x="0" y="-47625"/>
              <a:ext cx="2442746" cy="596270"/>
            </a:xfrm>
            <a:prstGeom prst="rect">
              <a:avLst/>
            </a:prstGeom>
          </p:spPr>
          <p:txBody>
            <a:bodyPr lIns="50800" tIns="50800" rIns="50800" bIns="50800" rtlCol="0" anchor="ctr"/>
            <a:lstStyle/>
            <a:p>
              <a:pPr algn="ctr">
                <a:lnSpc>
                  <a:spcPts val="3499"/>
                </a:lnSpc>
              </a:pPr>
              <a:endParaRPr/>
            </a:p>
          </p:txBody>
        </p:sp>
      </p:grpSp>
      <p:sp>
        <p:nvSpPr>
          <p:cNvPr id="17" name="Freeform 17"/>
          <p:cNvSpPr/>
          <p:nvPr/>
        </p:nvSpPr>
        <p:spPr>
          <a:xfrm>
            <a:off x="16554283" y="8460857"/>
            <a:ext cx="1733717" cy="1733717"/>
          </a:xfrm>
          <a:custGeom>
            <a:avLst/>
            <a:gdLst/>
            <a:ahLst/>
            <a:cxnLst/>
            <a:rect l="l" t="t" r="r" b="b"/>
            <a:pathLst>
              <a:path w="1733717" h="1733717">
                <a:moveTo>
                  <a:pt x="0" y="0"/>
                </a:moveTo>
                <a:lnTo>
                  <a:pt x="1733717" y="0"/>
                </a:lnTo>
                <a:lnTo>
                  <a:pt x="1733717" y="1733716"/>
                </a:lnTo>
                <a:lnTo>
                  <a:pt x="0" y="1733716"/>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18" name="Freeform 18"/>
          <p:cNvSpPr/>
          <p:nvPr/>
        </p:nvSpPr>
        <p:spPr>
          <a:xfrm flipH="1">
            <a:off x="0" y="8460857"/>
            <a:ext cx="1733717" cy="1733717"/>
          </a:xfrm>
          <a:custGeom>
            <a:avLst/>
            <a:gdLst/>
            <a:ahLst/>
            <a:cxnLst/>
            <a:rect l="l" t="t" r="r" b="b"/>
            <a:pathLst>
              <a:path w="1733717" h="1733717">
                <a:moveTo>
                  <a:pt x="1733717" y="0"/>
                </a:moveTo>
                <a:lnTo>
                  <a:pt x="0" y="0"/>
                </a:lnTo>
                <a:lnTo>
                  <a:pt x="0" y="1733716"/>
                </a:lnTo>
                <a:lnTo>
                  <a:pt x="1733717" y="1733716"/>
                </a:lnTo>
                <a:lnTo>
                  <a:pt x="1733717"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19" name="TextBox 19"/>
          <p:cNvSpPr txBox="1"/>
          <p:nvPr/>
        </p:nvSpPr>
        <p:spPr>
          <a:xfrm>
            <a:off x="1870719" y="1791360"/>
            <a:ext cx="6620087" cy="1710441"/>
          </a:xfrm>
          <a:prstGeom prst="rect">
            <a:avLst/>
          </a:prstGeom>
        </p:spPr>
        <p:txBody>
          <a:bodyPr lIns="0" tIns="0" rIns="0" bIns="0" rtlCol="0" anchor="t">
            <a:spAutoFit/>
          </a:bodyPr>
          <a:lstStyle/>
          <a:p>
            <a:pPr algn="l">
              <a:lnSpc>
                <a:spcPts val="5888"/>
              </a:lnSpc>
            </a:pPr>
            <a:r>
              <a:rPr lang="en-US" sz="6400" b="1">
                <a:solidFill>
                  <a:srgbClr val="231F20"/>
                </a:solidFill>
                <a:latin typeface="Helvetica World Bold"/>
                <a:ea typeface="Helvetica World Bold"/>
                <a:cs typeface="Helvetica World Bold"/>
                <a:sym typeface="Helvetica World Bold"/>
              </a:rPr>
              <a:t>PROPOSED SYSTEM</a:t>
            </a:r>
          </a:p>
        </p:txBody>
      </p:sp>
      <p:sp>
        <p:nvSpPr>
          <p:cNvPr id="20" name="TextBox 20"/>
          <p:cNvSpPr txBox="1"/>
          <p:nvPr/>
        </p:nvSpPr>
        <p:spPr>
          <a:xfrm>
            <a:off x="10362222" y="2504582"/>
            <a:ext cx="4170277" cy="434365"/>
          </a:xfrm>
          <a:prstGeom prst="rect">
            <a:avLst/>
          </a:prstGeom>
        </p:spPr>
        <p:txBody>
          <a:bodyPr lIns="0" tIns="0" rIns="0" bIns="0" rtlCol="0" anchor="t">
            <a:spAutoFit/>
          </a:bodyPr>
          <a:lstStyle/>
          <a:p>
            <a:pPr marL="496575" lvl="1" indent="-248288" algn="ctr">
              <a:lnSpc>
                <a:spcPts val="3220"/>
              </a:lnSpc>
              <a:buAutoNum type="arabicPeriod"/>
            </a:pPr>
            <a:r>
              <a:rPr lang="en-US" sz="2300" b="1">
                <a:solidFill>
                  <a:srgbClr val="FFFFFF"/>
                </a:solidFill>
                <a:latin typeface="Helvetica World Bold"/>
                <a:ea typeface="Helvetica World Bold"/>
                <a:cs typeface="Helvetica World Bold"/>
                <a:sym typeface="Helvetica World Bold"/>
              </a:rPr>
              <a:t>DOCUMENT ANALYZER</a:t>
            </a:r>
          </a:p>
        </p:txBody>
      </p:sp>
      <p:sp>
        <p:nvSpPr>
          <p:cNvPr id="21" name="TextBox 21"/>
          <p:cNvSpPr txBox="1"/>
          <p:nvPr/>
        </p:nvSpPr>
        <p:spPr>
          <a:xfrm>
            <a:off x="9372600" y="3725906"/>
            <a:ext cx="8410137" cy="371768"/>
          </a:xfrm>
          <a:prstGeom prst="rect">
            <a:avLst/>
          </a:prstGeom>
        </p:spPr>
        <p:txBody>
          <a:bodyPr lIns="0" tIns="0" rIns="0" bIns="0" rtlCol="0" anchor="t">
            <a:spAutoFit/>
          </a:bodyPr>
          <a:lstStyle/>
          <a:p>
            <a:pPr algn="ctr">
              <a:lnSpc>
                <a:spcPts val="3220"/>
              </a:lnSpc>
            </a:pPr>
            <a:r>
              <a:rPr lang="en-US" sz="2300" b="1" dirty="0">
                <a:solidFill>
                  <a:srgbClr val="FFFFFF"/>
                </a:solidFill>
                <a:latin typeface="Helvetica World Bold"/>
                <a:ea typeface="Helvetica World Bold"/>
                <a:cs typeface="Helvetica World Bold"/>
                <a:sym typeface="Helvetica World Bold"/>
              </a:rPr>
              <a:t>2.  LEGAL CHATBOT </a:t>
            </a:r>
          </a:p>
        </p:txBody>
      </p:sp>
      <p:sp>
        <p:nvSpPr>
          <p:cNvPr id="22" name="TextBox 22"/>
          <p:cNvSpPr txBox="1"/>
          <p:nvPr/>
        </p:nvSpPr>
        <p:spPr>
          <a:xfrm>
            <a:off x="1983586" y="6584219"/>
            <a:ext cx="2780134" cy="434365"/>
          </a:xfrm>
          <a:prstGeom prst="rect">
            <a:avLst/>
          </a:prstGeom>
        </p:spPr>
        <p:txBody>
          <a:bodyPr lIns="0" tIns="0" rIns="0" bIns="0" rtlCol="0" anchor="t">
            <a:spAutoFit/>
          </a:bodyPr>
          <a:lstStyle/>
          <a:p>
            <a:pPr algn="ctr">
              <a:lnSpc>
                <a:spcPts val="3220"/>
              </a:lnSpc>
            </a:pPr>
            <a:r>
              <a:rPr lang="en-US" sz="2300" b="1">
                <a:solidFill>
                  <a:srgbClr val="FFFFFF"/>
                </a:solidFill>
                <a:latin typeface="Helvetica World Bold"/>
                <a:ea typeface="Helvetica World Bold"/>
                <a:cs typeface="Helvetica World Bold"/>
                <a:sym typeface="Helvetica World Bold"/>
              </a:rPr>
              <a:t>FEATURES:</a:t>
            </a:r>
          </a:p>
        </p:txBody>
      </p:sp>
      <p:sp>
        <p:nvSpPr>
          <p:cNvPr id="23" name="TextBox 23"/>
          <p:cNvSpPr txBox="1"/>
          <p:nvPr/>
        </p:nvSpPr>
        <p:spPr>
          <a:xfrm>
            <a:off x="7695672" y="1553235"/>
            <a:ext cx="6598506" cy="434365"/>
          </a:xfrm>
          <a:prstGeom prst="rect">
            <a:avLst/>
          </a:prstGeom>
        </p:spPr>
        <p:txBody>
          <a:bodyPr lIns="0" tIns="0" rIns="0" bIns="0" rtlCol="0" anchor="t">
            <a:spAutoFit/>
          </a:bodyPr>
          <a:lstStyle/>
          <a:p>
            <a:pPr algn="ctr">
              <a:lnSpc>
                <a:spcPts val="3220"/>
              </a:lnSpc>
            </a:pPr>
            <a:r>
              <a:rPr lang="en-US" sz="2300" b="1">
                <a:solidFill>
                  <a:srgbClr val="021828"/>
                </a:solidFill>
                <a:latin typeface="Helvetica World Bold"/>
                <a:ea typeface="Helvetica World Bold"/>
                <a:cs typeface="Helvetica World Bold"/>
                <a:sym typeface="Helvetica World Bold"/>
              </a:rPr>
              <a:t>Our system contains three integrated modules:</a:t>
            </a:r>
          </a:p>
        </p:txBody>
      </p:sp>
      <p:sp>
        <p:nvSpPr>
          <p:cNvPr id="24" name="TextBox 24"/>
          <p:cNvSpPr txBox="1"/>
          <p:nvPr/>
        </p:nvSpPr>
        <p:spPr>
          <a:xfrm>
            <a:off x="2515711" y="7195527"/>
            <a:ext cx="6752136" cy="2863866"/>
          </a:xfrm>
          <a:prstGeom prst="rect">
            <a:avLst/>
          </a:prstGeom>
        </p:spPr>
        <p:txBody>
          <a:bodyPr lIns="0" tIns="0" rIns="0" bIns="0" rtlCol="0" anchor="t">
            <a:spAutoFit/>
          </a:bodyPr>
          <a:lstStyle/>
          <a:p>
            <a:pPr marL="496575" lvl="1" indent="-248288" algn="l">
              <a:lnSpc>
                <a:spcPts val="3611"/>
              </a:lnSpc>
              <a:buFont typeface="Arial"/>
              <a:buChar char="•"/>
            </a:pPr>
            <a:r>
              <a:rPr lang="en-US" sz="2300" i="1">
                <a:solidFill>
                  <a:srgbClr val="FFFFFF"/>
                </a:solidFill>
                <a:latin typeface="Helvetica World Italics"/>
                <a:ea typeface="Helvetica World Italics"/>
                <a:cs typeface="Helvetica World Italics"/>
                <a:sym typeface="Helvetica World Italics"/>
              </a:rPr>
              <a:t>Text extraction from PDFs</a:t>
            </a:r>
          </a:p>
          <a:p>
            <a:pPr marL="496575" lvl="1" indent="-248288" algn="l">
              <a:lnSpc>
                <a:spcPts val="3611"/>
              </a:lnSpc>
              <a:buFont typeface="Arial"/>
              <a:buChar char="•"/>
            </a:pPr>
            <a:r>
              <a:rPr lang="en-US" sz="2300" i="1">
                <a:solidFill>
                  <a:srgbClr val="FFFFFF"/>
                </a:solidFill>
                <a:latin typeface="Helvetica World Italics"/>
                <a:ea typeface="Helvetica World Italics"/>
                <a:cs typeface="Helvetica World Italics"/>
                <a:sym typeface="Helvetica World Italics"/>
              </a:rPr>
              <a:t>Summaries + Q&amp;A</a:t>
            </a:r>
          </a:p>
          <a:p>
            <a:pPr marL="496575" lvl="1" indent="-248288" algn="l">
              <a:lnSpc>
                <a:spcPts val="3611"/>
              </a:lnSpc>
              <a:buFont typeface="Arial"/>
              <a:buChar char="•"/>
            </a:pPr>
            <a:r>
              <a:rPr lang="en-US" sz="2300" i="1">
                <a:solidFill>
                  <a:srgbClr val="FFFFFF"/>
                </a:solidFill>
                <a:latin typeface="Helvetica World Italics"/>
                <a:ea typeface="Helvetica World Italics"/>
                <a:cs typeface="Helvetica World Italics"/>
                <a:sym typeface="Helvetica World Italics"/>
              </a:rPr>
              <a:t>FAISS-based vector search</a:t>
            </a:r>
          </a:p>
          <a:p>
            <a:pPr marL="496575" lvl="1" indent="-248288" algn="l">
              <a:lnSpc>
                <a:spcPts val="3611"/>
              </a:lnSpc>
              <a:buFont typeface="Arial"/>
              <a:buChar char="•"/>
            </a:pPr>
            <a:r>
              <a:rPr lang="en-US" sz="2300" i="1">
                <a:solidFill>
                  <a:srgbClr val="FFFFFF"/>
                </a:solidFill>
                <a:latin typeface="Helvetica World Italics"/>
                <a:ea typeface="Helvetica World Italics"/>
                <a:cs typeface="Helvetica World Italics"/>
                <a:sym typeface="Helvetica World Italics"/>
              </a:rPr>
              <a:t>Domain-trained chatbot</a:t>
            </a:r>
          </a:p>
          <a:p>
            <a:pPr marL="496575" lvl="1" indent="-248288" algn="l">
              <a:lnSpc>
                <a:spcPts val="3611"/>
              </a:lnSpc>
              <a:buFont typeface="Arial"/>
              <a:buChar char="•"/>
            </a:pPr>
            <a:r>
              <a:rPr lang="en-US" sz="2300" i="1">
                <a:solidFill>
                  <a:srgbClr val="FFFFFF"/>
                </a:solidFill>
                <a:latin typeface="Helvetica World Italics"/>
                <a:ea typeface="Helvetica World Italics"/>
                <a:cs typeface="Helvetica World Italics"/>
                <a:sym typeface="Helvetica World Italics"/>
              </a:rPr>
              <a:t>Lawyer filtering system</a:t>
            </a:r>
          </a:p>
          <a:p>
            <a:pPr algn="ctr">
              <a:lnSpc>
                <a:spcPts val="3611"/>
              </a:lnSpc>
            </a:pPr>
            <a:endParaRPr lang="en-US" sz="2300" i="1">
              <a:solidFill>
                <a:srgbClr val="FFFFFF"/>
              </a:solidFill>
              <a:latin typeface="Helvetica World Italics"/>
              <a:ea typeface="Helvetica World Italics"/>
              <a:cs typeface="Helvetica World Italics"/>
              <a:sym typeface="Helvetica World Italics"/>
            </a:endParaRPr>
          </a:p>
        </p:txBody>
      </p:sp>
      <p:grpSp>
        <p:nvGrpSpPr>
          <p:cNvPr id="25" name="Group 25"/>
          <p:cNvGrpSpPr/>
          <p:nvPr/>
        </p:nvGrpSpPr>
        <p:grpSpPr>
          <a:xfrm>
            <a:off x="10362222" y="4880182"/>
            <a:ext cx="4614082" cy="628343"/>
            <a:chOff x="0" y="0"/>
            <a:chExt cx="1215231" cy="165490"/>
          </a:xfrm>
        </p:grpSpPr>
        <p:sp>
          <p:nvSpPr>
            <p:cNvPr id="26" name="Freeform 26"/>
            <p:cNvSpPr/>
            <p:nvPr/>
          </p:nvSpPr>
          <p:spPr>
            <a:xfrm>
              <a:off x="0" y="0"/>
              <a:ext cx="1215231" cy="165490"/>
            </a:xfrm>
            <a:custGeom>
              <a:avLst/>
              <a:gdLst/>
              <a:ahLst/>
              <a:cxnLst/>
              <a:rect l="l" t="t" r="r" b="b"/>
              <a:pathLst>
                <a:path w="1215231" h="165490">
                  <a:moveTo>
                    <a:pt x="36914" y="0"/>
                  </a:moveTo>
                  <a:lnTo>
                    <a:pt x="1178318" y="0"/>
                  </a:lnTo>
                  <a:cubicBezTo>
                    <a:pt x="1188108" y="0"/>
                    <a:pt x="1197497" y="3889"/>
                    <a:pt x="1204420" y="10812"/>
                  </a:cubicBezTo>
                  <a:cubicBezTo>
                    <a:pt x="1211342" y="17734"/>
                    <a:pt x="1215231" y="27123"/>
                    <a:pt x="1215231" y="36914"/>
                  </a:cubicBezTo>
                  <a:lnTo>
                    <a:pt x="1215231" y="128576"/>
                  </a:lnTo>
                  <a:cubicBezTo>
                    <a:pt x="1215231" y="148963"/>
                    <a:pt x="1198705" y="165490"/>
                    <a:pt x="1178318" y="165490"/>
                  </a:cubicBezTo>
                  <a:lnTo>
                    <a:pt x="36914" y="165490"/>
                  </a:lnTo>
                  <a:cubicBezTo>
                    <a:pt x="27123" y="165490"/>
                    <a:pt x="17734" y="161601"/>
                    <a:pt x="10812" y="154678"/>
                  </a:cubicBezTo>
                  <a:cubicBezTo>
                    <a:pt x="3889" y="147755"/>
                    <a:pt x="0" y="138366"/>
                    <a:pt x="0" y="128576"/>
                  </a:cubicBezTo>
                  <a:lnTo>
                    <a:pt x="0" y="36914"/>
                  </a:lnTo>
                  <a:cubicBezTo>
                    <a:pt x="0" y="27123"/>
                    <a:pt x="3889" y="17734"/>
                    <a:pt x="10812" y="10812"/>
                  </a:cubicBezTo>
                  <a:cubicBezTo>
                    <a:pt x="17734" y="3889"/>
                    <a:pt x="27123" y="0"/>
                    <a:pt x="36914" y="0"/>
                  </a:cubicBezTo>
                  <a:close/>
                </a:path>
              </a:pathLst>
            </a:custGeom>
            <a:solidFill>
              <a:srgbClr val="0345E4"/>
            </a:solidFill>
          </p:spPr>
        </p:sp>
        <p:sp>
          <p:nvSpPr>
            <p:cNvPr id="27" name="TextBox 27"/>
            <p:cNvSpPr txBox="1"/>
            <p:nvPr/>
          </p:nvSpPr>
          <p:spPr>
            <a:xfrm>
              <a:off x="0" y="-47625"/>
              <a:ext cx="1215231" cy="213115"/>
            </a:xfrm>
            <a:prstGeom prst="rect">
              <a:avLst/>
            </a:prstGeom>
          </p:spPr>
          <p:txBody>
            <a:bodyPr lIns="50800" tIns="50800" rIns="50800" bIns="50800" rtlCol="0" anchor="ctr"/>
            <a:lstStyle/>
            <a:p>
              <a:pPr algn="ctr">
                <a:lnSpc>
                  <a:spcPts val="3499"/>
                </a:lnSpc>
              </a:pPr>
              <a:endParaRPr/>
            </a:p>
          </p:txBody>
        </p:sp>
      </p:grpSp>
      <p:sp>
        <p:nvSpPr>
          <p:cNvPr id="28" name="TextBox 28"/>
          <p:cNvSpPr txBox="1"/>
          <p:nvPr/>
        </p:nvSpPr>
        <p:spPr>
          <a:xfrm>
            <a:off x="10475544" y="4948597"/>
            <a:ext cx="4170277" cy="434365"/>
          </a:xfrm>
          <a:prstGeom prst="rect">
            <a:avLst/>
          </a:prstGeom>
        </p:spPr>
        <p:txBody>
          <a:bodyPr lIns="0" tIns="0" rIns="0" bIns="0" rtlCol="0" anchor="t">
            <a:spAutoFit/>
          </a:bodyPr>
          <a:lstStyle/>
          <a:p>
            <a:pPr algn="ctr">
              <a:lnSpc>
                <a:spcPts val="3220"/>
              </a:lnSpc>
            </a:pPr>
            <a:r>
              <a:rPr lang="en-US" sz="2300" b="1">
                <a:solidFill>
                  <a:srgbClr val="FFFFFF"/>
                </a:solidFill>
                <a:latin typeface="Helvetica World Bold"/>
                <a:ea typeface="Helvetica World Bold"/>
                <a:cs typeface="Helvetica World Bold"/>
                <a:sym typeface="Helvetica World Bold"/>
              </a:rPr>
              <a:t>3.  FIND LAWYER MODULE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2227431"/>
            <a:chOff x="0" y="0"/>
            <a:chExt cx="4816593" cy="586648"/>
          </a:xfrm>
        </p:grpSpPr>
        <p:sp>
          <p:nvSpPr>
            <p:cNvPr id="3" name="Freeform 3"/>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0345E4"/>
            </a:solidFill>
          </p:spPr>
        </p:sp>
        <p:sp>
          <p:nvSpPr>
            <p:cNvPr id="4" name="TextBox 4"/>
            <p:cNvSpPr txBox="1"/>
            <p:nvPr/>
          </p:nvSpPr>
          <p:spPr>
            <a:xfrm>
              <a:off x="0" y="-38100"/>
              <a:ext cx="4816593" cy="624748"/>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12614625" y="404910"/>
            <a:ext cx="0" cy="1417611"/>
          </a:xfrm>
          <a:prstGeom prst="line">
            <a:avLst/>
          </a:prstGeom>
          <a:ln w="38100" cap="flat">
            <a:solidFill>
              <a:srgbClr val="FFFFFF"/>
            </a:solidFill>
            <a:prstDash val="solid"/>
            <a:headEnd type="none" w="sm" len="sm"/>
            <a:tailEnd type="none" w="sm" len="sm"/>
          </a:ln>
        </p:spPr>
      </p:sp>
      <p:grpSp>
        <p:nvGrpSpPr>
          <p:cNvPr id="6" name="Group 6"/>
          <p:cNvGrpSpPr/>
          <p:nvPr/>
        </p:nvGrpSpPr>
        <p:grpSpPr>
          <a:xfrm rot="5400000">
            <a:off x="901593" y="2672654"/>
            <a:ext cx="1479329" cy="1479329"/>
            <a:chOff x="0" y="0"/>
            <a:chExt cx="812800" cy="812800"/>
          </a:xfrm>
        </p:grpSpPr>
        <p:sp>
          <p:nvSpPr>
            <p:cNvPr id="7" name="Freeform 7"/>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1916531" y="3551900"/>
            <a:ext cx="771724" cy="77172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287059" y="8247665"/>
            <a:ext cx="2954728" cy="295472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4537198" y="2437362"/>
            <a:ext cx="8199065" cy="7845201"/>
          </a:xfrm>
          <a:custGeom>
            <a:avLst/>
            <a:gdLst/>
            <a:ahLst/>
            <a:cxnLst/>
            <a:rect l="l" t="t" r="r" b="b"/>
            <a:pathLst>
              <a:path w="8199065" h="7845201">
                <a:moveTo>
                  <a:pt x="0" y="0"/>
                </a:moveTo>
                <a:lnTo>
                  <a:pt x="8199064" y="0"/>
                </a:lnTo>
                <a:lnTo>
                  <a:pt x="8199064" y="7845201"/>
                </a:lnTo>
                <a:lnTo>
                  <a:pt x="0" y="7845201"/>
                </a:lnTo>
                <a:lnTo>
                  <a:pt x="0" y="0"/>
                </a:lnTo>
                <a:close/>
              </a:path>
            </a:pathLst>
          </a:custGeom>
          <a:blipFill>
            <a:blip r:embed="rId2"/>
            <a:stretch>
              <a:fillRect t="-752" b="-752"/>
            </a:stretch>
          </a:blipFill>
        </p:spPr>
      </p:sp>
      <p:sp>
        <p:nvSpPr>
          <p:cNvPr id="16" name="TextBox 16"/>
          <p:cNvSpPr txBox="1"/>
          <p:nvPr/>
        </p:nvSpPr>
        <p:spPr>
          <a:xfrm>
            <a:off x="919853" y="356479"/>
            <a:ext cx="10538491" cy="1740001"/>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SYSTEM ARCHITECTURE DIAGRAM</a:t>
            </a:r>
          </a:p>
        </p:txBody>
      </p:sp>
      <p:sp>
        <p:nvSpPr>
          <p:cNvPr id="17" name="TextBox 17"/>
          <p:cNvSpPr txBox="1"/>
          <p:nvPr/>
        </p:nvSpPr>
        <p:spPr>
          <a:xfrm>
            <a:off x="1809492" y="5673436"/>
            <a:ext cx="1752139" cy="931545"/>
          </a:xfrm>
          <a:prstGeom prst="rect">
            <a:avLst/>
          </a:prstGeom>
        </p:spPr>
        <p:txBody>
          <a:bodyPr lIns="0" tIns="0" rIns="0" bIns="0" rtlCol="0" anchor="t">
            <a:spAutoFit/>
          </a:bodyPr>
          <a:lstStyle/>
          <a:p>
            <a:pPr algn="ctr">
              <a:lnSpc>
                <a:spcPts val="3779"/>
              </a:lnSpc>
            </a:pPr>
            <a:r>
              <a:rPr lang="en-US" sz="2699" b="1">
                <a:solidFill>
                  <a:srgbClr val="FFFFFF"/>
                </a:solidFill>
                <a:latin typeface="Garet Bold"/>
                <a:ea typeface="Garet Bold"/>
                <a:cs typeface="Garet Bold"/>
                <a:sym typeface="Garet Bold"/>
              </a:rPr>
              <a:t>Upload Laws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207384"/>
            <a:ext cx="20136229" cy="4506944"/>
            <a:chOff x="0" y="0"/>
            <a:chExt cx="5303369" cy="1187014"/>
          </a:xfrm>
        </p:grpSpPr>
        <p:sp>
          <p:nvSpPr>
            <p:cNvPr id="3" name="Freeform 3"/>
            <p:cNvSpPr/>
            <p:nvPr/>
          </p:nvSpPr>
          <p:spPr>
            <a:xfrm>
              <a:off x="0" y="0"/>
              <a:ext cx="5303369" cy="1187014"/>
            </a:xfrm>
            <a:custGeom>
              <a:avLst/>
              <a:gdLst/>
              <a:ahLst/>
              <a:cxnLst/>
              <a:rect l="l" t="t" r="r" b="b"/>
              <a:pathLst>
                <a:path w="5303369" h="1187014">
                  <a:moveTo>
                    <a:pt x="0" y="0"/>
                  </a:moveTo>
                  <a:lnTo>
                    <a:pt x="5303369" y="0"/>
                  </a:lnTo>
                  <a:lnTo>
                    <a:pt x="5303369" y="1187014"/>
                  </a:lnTo>
                  <a:lnTo>
                    <a:pt x="0" y="1187014"/>
                  </a:lnTo>
                  <a:close/>
                </a:path>
              </a:pathLst>
            </a:custGeom>
            <a:solidFill>
              <a:srgbClr val="0345E4"/>
            </a:solidFill>
          </p:spPr>
        </p:sp>
        <p:sp>
          <p:nvSpPr>
            <p:cNvPr id="4" name="TextBox 4"/>
            <p:cNvSpPr txBox="1"/>
            <p:nvPr/>
          </p:nvSpPr>
          <p:spPr>
            <a:xfrm>
              <a:off x="0" y="-47625"/>
              <a:ext cx="5303369" cy="1234639"/>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472708" y="6531491"/>
            <a:ext cx="5707621" cy="596970"/>
            <a:chOff x="0" y="0"/>
            <a:chExt cx="1503242" cy="157227"/>
          </a:xfrm>
        </p:grpSpPr>
        <p:sp>
          <p:nvSpPr>
            <p:cNvPr id="6" name="Freeform 6"/>
            <p:cNvSpPr/>
            <p:nvPr/>
          </p:nvSpPr>
          <p:spPr>
            <a:xfrm>
              <a:off x="0" y="0"/>
              <a:ext cx="1503242" cy="157227"/>
            </a:xfrm>
            <a:custGeom>
              <a:avLst/>
              <a:gdLst/>
              <a:ahLst/>
              <a:cxnLst/>
              <a:rect l="l" t="t" r="r" b="b"/>
              <a:pathLst>
                <a:path w="1503242" h="157227">
                  <a:moveTo>
                    <a:pt x="29841" y="0"/>
                  </a:moveTo>
                  <a:lnTo>
                    <a:pt x="1473401" y="0"/>
                  </a:lnTo>
                  <a:cubicBezTo>
                    <a:pt x="1489881" y="0"/>
                    <a:pt x="1503242" y="13360"/>
                    <a:pt x="1503242" y="29841"/>
                  </a:cubicBezTo>
                  <a:lnTo>
                    <a:pt x="1503242" y="127386"/>
                  </a:lnTo>
                  <a:cubicBezTo>
                    <a:pt x="1503242" y="143866"/>
                    <a:pt x="1489881" y="157227"/>
                    <a:pt x="1473401" y="157227"/>
                  </a:cubicBezTo>
                  <a:lnTo>
                    <a:pt x="29841" y="157227"/>
                  </a:lnTo>
                  <a:cubicBezTo>
                    <a:pt x="21927" y="157227"/>
                    <a:pt x="14337" y="154083"/>
                    <a:pt x="8740" y="148486"/>
                  </a:cubicBezTo>
                  <a:cubicBezTo>
                    <a:pt x="3144" y="142890"/>
                    <a:pt x="0" y="135300"/>
                    <a:pt x="0" y="127386"/>
                  </a:cubicBezTo>
                  <a:lnTo>
                    <a:pt x="0" y="29841"/>
                  </a:lnTo>
                  <a:cubicBezTo>
                    <a:pt x="0" y="13360"/>
                    <a:pt x="13360" y="0"/>
                    <a:pt x="29841" y="0"/>
                  </a:cubicBezTo>
                  <a:close/>
                </a:path>
              </a:pathLst>
            </a:custGeom>
            <a:solidFill>
              <a:srgbClr val="000000"/>
            </a:solidFill>
          </p:spPr>
        </p:sp>
        <p:sp>
          <p:nvSpPr>
            <p:cNvPr id="7" name="TextBox 7"/>
            <p:cNvSpPr txBox="1"/>
            <p:nvPr/>
          </p:nvSpPr>
          <p:spPr>
            <a:xfrm>
              <a:off x="0" y="-47625"/>
              <a:ext cx="1503242" cy="204852"/>
            </a:xfrm>
            <a:prstGeom prst="rect">
              <a:avLst/>
            </a:prstGeom>
          </p:spPr>
          <p:txBody>
            <a:bodyPr lIns="50800" tIns="50800" rIns="50800" bIns="50800" rtlCol="0" anchor="ctr"/>
            <a:lstStyle/>
            <a:p>
              <a:pPr algn="ctr">
                <a:lnSpc>
                  <a:spcPts val="3499"/>
                </a:lnSpc>
              </a:pPr>
              <a:endParaRPr/>
            </a:p>
          </p:txBody>
        </p:sp>
      </p:grpSp>
      <p:grpSp>
        <p:nvGrpSpPr>
          <p:cNvPr id="8" name="Group 8"/>
          <p:cNvGrpSpPr/>
          <p:nvPr/>
        </p:nvGrpSpPr>
        <p:grpSpPr>
          <a:xfrm>
            <a:off x="-640337" y="-1218468"/>
            <a:ext cx="9274800" cy="2083136"/>
            <a:chOff x="0" y="0"/>
            <a:chExt cx="2442746" cy="548645"/>
          </a:xfrm>
        </p:grpSpPr>
        <p:sp>
          <p:nvSpPr>
            <p:cNvPr id="9" name="Freeform 9"/>
            <p:cNvSpPr/>
            <p:nvPr/>
          </p:nvSpPr>
          <p:spPr>
            <a:xfrm>
              <a:off x="0" y="0"/>
              <a:ext cx="2442746" cy="548645"/>
            </a:xfrm>
            <a:custGeom>
              <a:avLst/>
              <a:gdLst/>
              <a:ahLst/>
              <a:cxnLst/>
              <a:rect l="l" t="t" r="r" b="b"/>
              <a:pathLst>
                <a:path w="2442746" h="548645">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0345E4"/>
            </a:solidFill>
          </p:spPr>
        </p:sp>
        <p:sp>
          <p:nvSpPr>
            <p:cNvPr id="10" name="TextBox 10"/>
            <p:cNvSpPr txBox="1"/>
            <p:nvPr/>
          </p:nvSpPr>
          <p:spPr>
            <a:xfrm>
              <a:off x="0" y="-47625"/>
              <a:ext cx="2442746" cy="596270"/>
            </a:xfrm>
            <a:prstGeom prst="rect">
              <a:avLst/>
            </a:prstGeom>
          </p:spPr>
          <p:txBody>
            <a:bodyPr lIns="50800" tIns="50800" rIns="50800" bIns="50800" rtlCol="0" anchor="ctr"/>
            <a:lstStyle/>
            <a:p>
              <a:pPr algn="ctr">
                <a:lnSpc>
                  <a:spcPts val="3499"/>
                </a:lnSpc>
              </a:pPr>
              <a:endParaRPr/>
            </a:p>
          </p:txBody>
        </p:sp>
      </p:grpSp>
      <p:sp>
        <p:nvSpPr>
          <p:cNvPr id="11" name="Freeform 11"/>
          <p:cNvSpPr/>
          <p:nvPr/>
        </p:nvSpPr>
        <p:spPr>
          <a:xfrm>
            <a:off x="16554283" y="8460857"/>
            <a:ext cx="1733717" cy="1733717"/>
          </a:xfrm>
          <a:custGeom>
            <a:avLst/>
            <a:gdLst/>
            <a:ahLst/>
            <a:cxnLst/>
            <a:rect l="l" t="t" r="r" b="b"/>
            <a:pathLst>
              <a:path w="1733717" h="1733717">
                <a:moveTo>
                  <a:pt x="0" y="0"/>
                </a:moveTo>
                <a:lnTo>
                  <a:pt x="1733717" y="0"/>
                </a:lnTo>
                <a:lnTo>
                  <a:pt x="1733717" y="1733716"/>
                </a:lnTo>
                <a:lnTo>
                  <a:pt x="0" y="1733716"/>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12" name="Freeform 12"/>
          <p:cNvSpPr/>
          <p:nvPr/>
        </p:nvSpPr>
        <p:spPr>
          <a:xfrm flipH="1">
            <a:off x="0" y="8460857"/>
            <a:ext cx="1733717" cy="1733717"/>
          </a:xfrm>
          <a:custGeom>
            <a:avLst/>
            <a:gdLst/>
            <a:ahLst/>
            <a:cxnLst/>
            <a:rect l="l" t="t" r="r" b="b"/>
            <a:pathLst>
              <a:path w="1733717" h="1733717">
                <a:moveTo>
                  <a:pt x="1733717" y="0"/>
                </a:moveTo>
                <a:lnTo>
                  <a:pt x="0" y="0"/>
                </a:lnTo>
                <a:lnTo>
                  <a:pt x="0" y="1733716"/>
                </a:lnTo>
                <a:lnTo>
                  <a:pt x="1733717" y="1733716"/>
                </a:lnTo>
                <a:lnTo>
                  <a:pt x="1733717"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13" name="Freeform 13"/>
          <p:cNvSpPr/>
          <p:nvPr/>
        </p:nvSpPr>
        <p:spPr>
          <a:xfrm>
            <a:off x="0" y="7455773"/>
            <a:ext cx="18288000" cy="685800"/>
          </a:xfrm>
          <a:custGeom>
            <a:avLst/>
            <a:gdLst/>
            <a:ahLst/>
            <a:cxnLst/>
            <a:rect l="l" t="t" r="r" b="b"/>
            <a:pathLst>
              <a:path w="18288000" h="685800">
                <a:moveTo>
                  <a:pt x="0" y="0"/>
                </a:moveTo>
                <a:lnTo>
                  <a:pt x="18288000" y="0"/>
                </a:lnTo>
                <a:lnTo>
                  <a:pt x="18288000" y="685800"/>
                </a:lnTo>
                <a:lnTo>
                  <a:pt x="0" y="685800"/>
                </a:lnTo>
                <a:lnTo>
                  <a:pt x="0" y="0"/>
                </a:lnTo>
                <a:close/>
              </a:path>
            </a:pathLst>
          </a:custGeom>
          <a:blipFill>
            <a:blip r:embed="rId3"/>
            <a:stretch>
              <a:fillRect/>
            </a:stretch>
          </a:blipFill>
        </p:spPr>
      </p:sp>
      <p:sp>
        <p:nvSpPr>
          <p:cNvPr id="14" name="TextBox 14"/>
          <p:cNvSpPr txBox="1"/>
          <p:nvPr/>
        </p:nvSpPr>
        <p:spPr>
          <a:xfrm>
            <a:off x="1870719" y="1791360"/>
            <a:ext cx="6620087" cy="2542348"/>
          </a:xfrm>
          <a:prstGeom prst="rect">
            <a:avLst/>
          </a:prstGeom>
        </p:spPr>
        <p:txBody>
          <a:bodyPr lIns="0" tIns="0" rIns="0" bIns="0" rtlCol="0" anchor="t">
            <a:spAutoFit/>
          </a:bodyPr>
          <a:lstStyle/>
          <a:p>
            <a:pPr algn="l">
              <a:lnSpc>
                <a:spcPts val="5888"/>
              </a:lnSpc>
            </a:pPr>
            <a:r>
              <a:rPr lang="en-US" sz="6400" b="1">
                <a:solidFill>
                  <a:srgbClr val="231F20"/>
                </a:solidFill>
                <a:latin typeface="Helvetica World Bold"/>
                <a:ea typeface="Helvetica World Bold"/>
                <a:cs typeface="Helvetica World Bold"/>
                <a:sym typeface="Helvetica World Bold"/>
              </a:rPr>
              <a:t>DOCUMENT ANALYZER OVERVIEW</a:t>
            </a:r>
          </a:p>
        </p:txBody>
      </p:sp>
      <p:sp>
        <p:nvSpPr>
          <p:cNvPr id="15" name="TextBox 15"/>
          <p:cNvSpPr txBox="1"/>
          <p:nvPr/>
        </p:nvSpPr>
        <p:spPr>
          <a:xfrm>
            <a:off x="333880" y="6584219"/>
            <a:ext cx="5985277" cy="434365"/>
          </a:xfrm>
          <a:prstGeom prst="rect">
            <a:avLst/>
          </a:prstGeom>
        </p:spPr>
        <p:txBody>
          <a:bodyPr lIns="0" tIns="0" rIns="0" bIns="0" rtlCol="0" anchor="t">
            <a:spAutoFit/>
          </a:bodyPr>
          <a:lstStyle/>
          <a:p>
            <a:pPr algn="ctr">
              <a:lnSpc>
                <a:spcPts val="3220"/>
              </a:lnSpc>
            </a:pPr>
            <a:r>
              <a:rPr lang="en-US" sz="2300" b="1">
                <a:solidFill>
                  <a:srgbClr val="FFFFFF"/>
                </a:solidFill>
                <a:latin typeface="Helvetica World Bold"/>
                <a:ea typeface="Helvetica World Bold"/>
                <a:cs typeface="Helvetica World Bold"/>
                <a:sym typeface="Helvetica World Bold"/>
              </a:rPr>
              <a:t>DOCUMENT ANALYZER WORKFLOW</a:t>
            </a:r>
          </a:p>
        </p:txBody>
      </p:sp>
      <p:sp>
        <p:nvSpPr>
          <p:cNvPr id="16" name="TextBox 16"/>
          <p:cNvSpPr txBox="1"/>
          <p:nvPr/>
        </p:nvSpPr>
        <p:spPr>
          <a:xfrm>
            <a:off x="9144000" y="1553235"/>
            <a:ext cx="6598506" cy="3448203"/>
          </a:xfrm>
          <a:prstGeom prst="rect">
            <a:avLst/>
          </a:prstGeom>
        </p:spPr>
        <p:txBody>
          <a:bodyPr lIns="0" tIns="0" rIns="0" bIns="0" rtlCol="0" anchor="t">
            <a:spAutoFit/>
          </a:bodyPr>
          <a:lstStyle/>
          <a:p>
            <a:pPr marL="496575" lvl="1" indent="-248288"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Upload PDF, scanned image, or text file</a:t>
            </a:r>
          </a:p>
          <a:p>
            <a:pPr marL="496575" lvl="1" indent="-248288"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Automatic text extraction (PyPDF2 + OCR)</a:t>
            </a:r>
          </a:p>
          <a:p>
            <a:pPr marL="496575" lvl="1" indent="-248288"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Intelligent chunking (800–1000 words)</a:t>
            </a:r>
          </a:p>
          <a:p>
            <a:pPr marL="496575" lvl="1" indent="-248288"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Embeddings stored in FAISS index</a:t>
            </a:r>
          </a:p>
          <a:p>
            <a:pPr marL="496575" lvl="1" indent="-248288"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User can ask:</a:t>
            </a:r>
          </a:p>
          <a:p>
            <a:pPr marL="993151" lvl="2" indent="-331050"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“Give me summary”</a:t>
            </a:r>
          </a:p>
          <a:p>
            <a:pPr marL="993151" lvl="2" indent="-331050" algn="l">
              <a:lnSpc>
                <a:spcPts val="3220"/>
              </a:lnSpc>
              <a:buFont typeface="Arial"/>
              <a:buChar char="⚬"/>
            </a:pPr>
            <a:r>
              <a:rPr lang="en-US" sz="2300" b="1">
                <a:solidFill>
                  <a:srgbClr val="021828"/>
                </a:solidFill>
                <a:latin typeface="Helvetica World Bold"/>
                <a:ea typeface="Helvetica World Bold"/>
                <a:cs typeface="Helvetica World Bold"/>
                <a:sym typeface="Helvetica World Bold"/>
              </a:rPr>
              <a:t>“What is clause 12 about?”</a:t>
            </a:r>
          </a:p>
          <a:p>
            <a:pPr algn="ctr">
              <a:lnSpc>
                <a:spcPts val="3220"/>
              </a:lnSpc>
            </a:pPr>
            <a:endParaRPr lang="en-US" sz="2300" b="1">
              <a:solidFill>
                <a:srgbClr val="021828"/>
              </a:solidFill>
              <a:latin typeface="Helvetica World Bold"/>
              <a:ea typeface="Helvetica World Bold"/>
              <a:cs typeface="Helvetica World Bold"/>
              <a:sym typeface="Helvetica World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274800" cy="10287000"/>
            <a:chOff x="0" y="0"/>
            <a:chExt cx="2442746" cy="2709333"/>
          </a:xfrm>
        </p:grpSpPr>
        <p:sp>
          <p:nvSpPr>
            <p:cNvPr id="3" name="Freeform 3"/>
            <p:cNvSpPr/>
            <p:nvPr/>
          </p:nvSpPr>
          <p:spPr>
            <a:xfrm>
              <a:off x="0" y="0"/>
              <a:ext cx="2442746" cy="2709333"/>
            </a:xfrm>
            <a:custGeom>
              <a:avLst/>
              <a:gdLst/>
              <a:ahLst/>
              <a:cxnLst/>
              <a:rect l="l" t="t" r="r" b="b"/>
              <a:pathLst>
                <a:path w="2442746" h="2709333">
                  <a:moveTo>
                    <a:pt x="25042" y="0"/>
                  </a:moveTo>
                  <a:lnTo>
                    <a:pt x="2417704" y="0"/>
                  </a:lnTo>
                  <a:cubicBezTo>
                    <a:pt x="2431534" y="0"/>
                    <a:pt x="2442746" y="11212"/>
                    <a:pt x="2442746" y="25042"/>
                  </a:cubicBezTo>
                  <a:lnTo>
                    <a:pt x="2442746" y="2684291"/>
                  </a:lnTo>
                  <a:cubicBezTo>
                    <a:pt x="2442746" y="2690933"/>
                    <a:pt x="2440107" y="2697302"/>
                    <a:pt x="2435411" y="2701999"/>
                  </a:cubicBezTo>
                  <a:cubicBezTo>
                    <a:pt x="2430715" y="2706695"/>
                    <a:pt x="2424345" y="2709333"/>
                    <a:pt x="2417704" y="2709333"/>
                  </a:cubicBezTo>
                  <a:lnTo>
                    <a:pt x="25042" y="2709333"/>
                  </a:lnTo>
                  <a:cubicBezTo>
                    <a:pt x="11212" y="2709333"/>
                    <a:pt x="0" y="2698122"/>
                    <a:pt x="0" y="2684291"/>
                  </a:cubicBezTo>
                  <a:lnTo>
                    <a:pt x="0" y="25042"/>
                  </a:lnTo>
                  <a:cubicBezTo>
                    <a:pt x="0" y="18400"/>
                    <a:pt x="2638" y="12031"/>
                    <a:pt x="7335" y="7335"/>
                  </a:cubicBezTo>
                  <a:cubicBezTo>
                    <a:pt x="12031" y="2638"/>
                    <a:pt x="18400" y="0"/>
                    <a:pt x="25042" y="0"/>
                  </a:cubicBezTo>
                  <a:close/>
                </a:path>
              </a:pathLst>
            </a:custGeom>
            <a:solidFill>
              <a:srgbClr val="0345E4"/>
            </a:solidFill>
          </p:spPr>
        </p:sp>
        <p:sp>
          <p:nvSpPr>
            <p:cNvPr id="4" name="TextBox 4"/>
            <p:cNvSpPr txBox="1"/>
            <p:nvPr/>
          </p:nvSpPr>
          <p:spPr>
            <a:xfrm>
              <a:off x="0" y="-47625"/>
              <a:ext cx="2442746" cy="2756958"/>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9328737" y="431730"/>
            <a:ext cx="4699382" cy="596970"/>
            <a:chOff x="0" y="0"/>
            <a:chExt cx="1237697" cy="157227"/>
          </a:xfrm>
        </p:grpSpPr>
        <p:sp>
          <p:nvSpPr>
            <p:cNvPr id="6" name="Freeform 6"/>
            <p:cNvSpPr/>
            <p:nvPr/>
          </p:nvSpPr>
          <p:spPr>
            <a:xfrm>
              <a:off x="0" y="0"/>
              <a:ext cx="1237697" cy="157227"/>
            </a:xfrm>
            <a:custGeom>
              <a:avLst/>
              <a:gdLst/>
              <a:ahLst/>
              <a:cxnLst/>
              <a:rect l="l" t="t" r="r" b="b"/>
              <a:pathLst>
                <a:path w="1237697" h="157227">
                  <a:moveTo>
                    <a:pt x="36244" y="0"/>
                  </a:moveTo>
                  <a:lnTo>
                    <a:pt x="1201454" y="0"/>
                  </a:lnTo>
                  <a:cubicBezTo>
                    <a:pt x="1211066" y="0"/>
                    <a:pt x="1220285" y="3819"/>
                    <a:pt x="1227082" y="10615"/>
                  </a:cubicBezTo>
                  <a:cubicBezTo>
                    <a:pt x="1233879" y="17412"/>
                    <a:pt x="1237697" y="26631"/>
                    <a:pt x="1237697" y="36244"/>
                  </a:cubicBezTo>
                  <a:lnTo>
                    <a:pt x="1237697" y="120983"/>
                  </a:lnTo>
                  <a:cubicBezTo>
                    <a:pt x="1237697" y="130596"/>
                    <a:pt x="1233879" y="139814"/>
                    <a:pt x="1227082" y="146611"/>
                  </a:cubicBezTo>
                  <a:cubicBezTo>
                    <a:pt x="1220285" y="153408"/>
                    <a:pt x="1211066" y="157227"/>
                    <a:pt x="1201454" y="157227"/>
                  </a:cubicBezTo>
                  <a:lnTo>
                    <a:pt x="36244" y="157227"/>
                  </a:lnTo>
                  <a:cubicBezTo>
                    <a:pt x="26631" y="157227"/>
                    <a:pt x="17412" y="153408"/>
                    <a:pt x="10615" y="146611"/>
                  </a:cubicBezTo>
                  <a:cubicBezTo>
                    <a:pt x="3819" y="139814"/>
                    <a:pt x="0" y="130596"/>
                    <a:pt x="0" y="120983"/>
                  </a:cubicBezTo>
                  <a:lnTo>
                    <a:pt x="0" y="36244"/>
                  </a:lnTo>
                  <a:cubicBezTo>
                    <a:pt x="0" y="26631"/>
                    <a:pt x="3819" y="17412"/>
                    <a:pt x="10615" y="10615"/>
                  </a:cubicBezTo>
                  <a:cubicBezTo>
                    <a:pt x="17412" y="3819"/>
                    <a:pt x="26631" y="0"/>
                    <a:pt x="36244" y="0"/>
                  </a:cubicBezTo>
                  <a:close/>
                </a:path>
              </a:pathLst>
            </a:custGeom>
            <a:solidFill>
              <a:srgbClr val="000000"/>
            </a:solidFill>
          </p:spPr>
        </p:sp>
        <p:sp>
          <p:nvSpPr>
            <p:cNvPr id="7" name="TextBox 7"/>
            <p:cNvSpPr txBox="1"/>
            <p:nvPr/>
          </p:nvSpPr>
          <p:spPr>
            <a:xfrm>
              <a:off x="0" y="-47625"/>
              <a:ext cx="1237697" cy="204852"/>
            </a:xfrm>
            <a:prstGeom prst="rect">
              <a:avLst/>
            </a:prstGeom>
          </p:spPr>
          <p:txBody>
            <a:bodyPr lIns="50800" tIns="50800" rIns="50800" bIns="50800" rtlCol="0" anchor="ctr"/>
            <a:lstStyle/>
            <a:p>
              <a:pPr algn="ctr">
                <a:lnSpc>
                  <a:spcPts val="3499"/>
                </a:lnSpc>
              </a:pPr>
              <a:endParaRPr/>
            </a:p>
          </p:txBody>
        </p:sp>
      </p:grpSp>
      <p:sp>
        <p:nvSpPr>
          <p:cNvPr id="8" name="Freeform 8"/>
          <p:cNvSpPr/>
          <p:nvPr/>
        </p:nvSpPr>
        <p:spPr>
          <a:xfrm>
            <a:off x="16554283" y="8460857"/>
            <a:ext cx="1733717" cy="1733717"/>
          </a:xfrm>
          <a:custGeom>
            <a:avLst/>
            <a:gdLst/>
            <a:ahLst/>
            <a:cxnLst/>
            <a:rect l="l" t="t" r="r" b="b"/>
            <a:pathLst>
              <a:path w="1733717" h="1733717">
                <a:moveTo>
                  <a:pt x="0" y="0"/>
                </a:moveTo>
                <a:lnTo>
                  <a:pt x="1733717" y="0"/>
                </a:lnTo>
                <a:lnTo>
                  <a:pt x="1733717" y="1733716"/>
                </a:lnTo>
                <a:lnTo>
                  <a:pt x="0" y="1733716"/>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9" name="Freeform 9"/>
          <p:cNvSpPr/>
          <p:nvPr/>
        </p:nvSpPr>
        <p:spPr>
          <a:xfrm flipH="1">
            <a:off x="0" y="8460857"/>
            <a:ext cx="1733717" cy="1733717"/>
          </a:xfrm>
          <a:custGeom>
            <a:avLst/>
            <a:gdLst/>
            <a:ahLst/>
            <a:cxnLst/>
            <a:rect l="l" t="t" r="r" b="b"/>
            <a:pathLst>
              <a:path w="1733717" h="1733717">
                <a:moveTo>
                  <a:pt x="1733717" y="0"/>
                </a:moveTo>
                <a:lnTo>
                  <a:pt x="0" y="0"/>
                </a:lnTo>
                <a:lnTo>
                  <a:pt x="0" y="1733716"/>
                </a:lnTo>
                <a:lnTo>
                  <a:pt x="1733717" y="1733716"/>
                </a:lnTo>
                <a:lnTo>
                  <a:pt x="1733717"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10" name="Freeform 10"/>
          <p:cNvSpPr/>
          <p:nvPr/>
        </p:nvSpPr>
        <p:spPr>
          <a:xfrm>
            <a:off x="11798257" y="1281571"/>
            <a:ext cx="3919151" cy="8913002"/>
          </a:xfrm>
          <a:custGeom>
            <a:avLst/>
            <a:gdLst/>
            <a:ahLst/>
            <a:cxnLst/>
            <a:rect l="l" t="t" r="r" b="b"/>
            <a:pathLst>
              <a:path w="3919151" h="8913002">
                <a:moveTo>
                  <a:pt x="0" y="0"/>
                </a:moveTo>
                <a:lnTo>
                  <a:pt x="3919151" y="0"/>
                </a:lnTo>
                <a:lnTo>
                  <a:pt x="3919151" y="8913002"/>
                </a:lnTo>
                <a:lnTo>
                  <a:pt x="0" y="8913002"/>
                </a:lnTo>
                <a:lnTo>
                  <a:pt x="0" y="0"/>
                </a:lnTo>
                <a:close/>
              </a:path>
            </a:pathLst>
          </a:custGeom>
          <a:blipFill>
            <a:blip r:embed="rId3"/>
            <a:stretch>
              <a:fillRect r="-1202"/>
            </a:stretch>
          </a:blipFill>
        </p:spPr>
      </p:sp>
      <p:sp>
        <p:nvSpPr>
          <p:cNvPr id="11" name="TextBox 11"/>
          <p:cNvSpPr txBox="1"/>
          <p:nvPr/>
        </p:nvSpPr>
        <p:spPr>
          <a:xfrm>
            <a:off x="9475291" y="484458"/>
            <a:ext cx="4306108" cy="434365"/>
          </a:xfrm>
          <a:prstGeom prst="rect">
            <a:avLst/>
          </a:prstGeom>
        </p:spPr>
        <p:txBody>
          <a:bodyPr lIns="0" tIns="0" rIns="0" bIns="0" rtlCol="0" anchor="t">
            <a:spAutoFit/>
          </a:bodyPr>
          <a:lstStyle/>
          <a:p>
            <a:pPr algn="ctr">
              <a:lnSpc>
                <a:spcPts val="3220"/>
              </a:lnSpc>
            </a:pPr>
            <a:r>
              <a:rPr lang="en-US" sz="2300" b="1">
                <a:solidFill>
                  <a:srgbClr val="FFFFFF"/>
                </a:solidFill>
                <a:latin typeface="Helvetica World Bold"/>
                <a:ea typeface="Helvetica World Bold"/>
                <a:cs typeface="Helvetica World Bold"/>
                <a:sym typeface="Helvetica World Bold"/>
              </a:rPr>
              <a:t>LEGAL CHATBOT WORKFLOW</a:t>
            </a:r>
          </a:p>
        </p:txBody>
      </p:sp>
      <p:sp>
        <p:nvSpPr>
          <p:cNvPr id="12" name="TextBox 12"/>
          <p:cNvSpPr txBox="1"/>
          <p:nvPr/>
        </p:nvSpPr>
        <p:spPr>
          <a:xfrm>
            <a:off x="687020" y="1209675"/>
            <a:ext cx="8788272" cy="1710441"/>
          </a:xfrm>
          <a:prstGeom prst="rect">
            <a:avLst/>
          </a:prstGeom>
        </p:spPr>
        <p:txBody>
          <a:bodyPr lIns="0" tIns="0" rIns="0" bIns="0" rtlCol="0" anchor="t">
            <a:spAutoFit/>
          </a:bodyPr>
          <a:lstStyle/>
          <a:p>
            <a:pPr algn="l">
              <a:lnSpc>
                <a:spcPts val="5888"/>
              </a:lnSpc>
            </a:pPr>
            <a:r>
              <a:rPr lang="en-US" sz="6400" b="1">
                <a:solidFill>
                  <a:srgbClr val="231F20"/>
                </a:solidFill>
                <a:latin typeface="Helvetica World Bold"/>
                <a:ea typeface="Helvetica World Bold"/>
                <a:cs typeface="Helvetica World Bold"/>
                <a:sym typeface="Helvetica World Bold"/>
              </a:rPr>
              <a:t>LEGAL CHATBOT MODULE</a:t>
            </a:r>
          </a:p>
        </p:txBody>
      </p:sp>
      <p:sp>
        <p:nvSpPr>
          <p:cNvPr id="13" name="TextBox 13"/>
          <p:cNvSpPr txBox="1"/>
          <p:nvPr/>
        </p:nvSpPr>
        <p:spPr>
          <a:xfrm>
            <a:off x="2391864" y="7456191"/>
            <a:ext cx="6752136" cy="2028381"/>
          </a:xfrm>
          <a:prstGeom prst="rect">
            <a:avLst/>
          </a:prstGeom>
        </p:spPr>
        <p:txBody>
          <a:bodyPr lIns="0" tIns="0" rIns="0" bIns="0" rtlCol="0" anchor="t">
            <a:spAutoFit/>
          </a:bodyPr>
          <a:lstStyle/>
          <a:p>
            <a:pPr marL="496575" lvl="1" indent="-248288" algn="l">
              <a:lnSpc>
                <a:spcPts val="2438"/>
              </a:lnSpc>
              <a:buFont typeface="Arial"/>
              <a:buChar char="•"/>
            </a:pPr>
            <a:r>
              <a:rPr lang="en-US" sz="2300" i="1">
                <a:solidFill>
                  <a:srgbClr val="FFFFFF"/>
                </a:solidFill>
                <a:latin typeface="Helvetica World Italics"/>
                <a:ea typeface="Helvetica World Italics"/>
                <a:cs typeface="Helvetica World Italics"/>
                <a:sym typeface="Helvetica World Italics"/>
              </a:rPr>
              <a:t>Text extraction from PDFs</a:t>
            </a:r>
          </a:p>
          <a:p>
            <a:pPr marL="496575" lvl="1" indent="-248288" algn="l">
              <a:lnSpc>
                <a:spcPts val="2438"/>
              </a:lnSpc>
              <a:buFont typeface="Arial"/>
              <a:buChar char="•"/>
            </a:pPr>
            <a:r>
              <a:rPr lang="en-US" sz="2300" i="1">
                <a:solidFill>
                  <a:srgbClr val="FFFFFF"/>
                </a:solidFill>
                <a:latin typeface="Helvetica World Italics"/>
                <a:ea typeface="Helvetica World Italics"/>
                <a:cs typeface="Helvetica World Italics"/>
                <a:sym typeface="Helvetica World Italics"/>
              </a:rPr>
              <a:t>Summaries + Q&amp;A</a:t>
            </a:r>
          </a:p>
          <a:p>
            <a:pPr marL="496575" lvl="1" indent="-248288" algn="l">
              <a:lnSpc>
                <a:spcPts val="2438"/>
              </a:lnSpc>
              <a:buFont typeface="Arial"/>
              <a:buChar char="•"/>
            </a:pPr>
            <a:r>
              <a:rPr lang="en-US" sz="2300" i="1">
                <a:solidFill>
                  <a:srgbClr val="FFFFFF"/>
                </a:solidFill>
                <a:latin typeface="Helvetica World Italics"/>
                <a:ea typeface="Helvetica World Italics"/>
                <a:cs typeface="Helvetica World Italics"/>
                <a:sym typeface="Helvetica World Italics"/>
              </a:rPr>
              <a:t>FAISS-based vector search</a:t>
            </a:r>
          </a:p>
          <a:p>
            <a:pPr marL="496575" lvl="1" indent="-248288" algn="l">
              <a:lnSpc>
                <a:spcPts val="2438"/>
              </a:lnSpc>
              <a:buFont typeface="Arial"/>
              <a:buChar char="•"/>
            </a:pPr>
            <a:r>
              <a:rPr lang="en-US" sz="2300" i="1">
                <a:solidFill>
                  <a:srgbClr val="FFFFFF"/>
                </a:solidFill>
                <a:latin typeface="Helvetica World Italics"/>
                <a:ea typeface="Helvetica World Italics"/>
                <a:cs typeface="Helvetica World Italics"/>
                <a:sym typeface="Helvetica World Italics"/>
              </a:rPr>
              <a:t>Domain-trained chatbot</a:t>
            </a:r>
          </a:p>
          <a:p>
            <a:pPr marL="496575" lvl="1" indent="-248288" algn="l">
              <a:lnSpc>
                <a:spcPts val="2438"/>
              </a:lnSpc>
              <a:buFont typeface="Arial"/>
              <a:buChar char="•"/>
            </a:pPr>
            <a:r>
              <a:rPr lang="en-US" sz="2300" i="1">
                <a:solidFill>
                  <a:srgbClr val="FFFFFF"/>
                </a:solidFill>
                <a:latin typeface="Helvetica World Italics"/>
                <a:ea typeface="Helvetica World Italics"/>
                <a:cs typeface="Helvetica World Italics"/>
                <a:sym typeface="Helvetica World Italics"/>
              </a:rPr>
              <a:t>Lawyer filtering system</a:t>
            </a:r>
          </a:p>
          <a:p>
            <a:pPr algn="ctr">
              <a:lnSpc>
                <a:spcPts val="2438"/>
              </a:lnSpc>
            </a:pPr>
            <a:endParaRPr lang="en-US" sz="2300" i="1">
              <a:solidFill>
                <a:srgbClr val="FFFFFF"/>
              </a:solidFill>
              <a:latin typeface="Helvetica World Italics"/>
              <a:ea typeface="Helvetica World Italics"/>
              <a:cs typeface="Helvetica World Italics"/>
              <a:sym typeface="Helvetica World Italics"/>
            </a:endParaRPr>
          </a:p>
        </p:txBody>
      </p:sp>
      <p:sp>
        <p:nvSpPr>
          <p:cNvPr id="14" name="TextBox 14"/>
          <p:cNvSpPr txBox="1"/>
          <p:nvPr/>
        </p:nvSpPr>
        <p:spPr>
          <a:xfrm>
            <a:off x="687020" y="3390823"/>
            <a:ext cx="7618780" cy="6527300"/>
          </a:xfrm>
          <a:prstGeom prst="rect">
            <a:avLst/>
          </a:prstGeom>
        </p:spPr>
        <p:txBody>
          <a:bodyPr lIns="0" tIns="0" rIns="0" bIns="0" rtlCol="0" anchor="t">
            <a:spAutoFit/>
          </a:bodyPr>
          <a:lstStyle/>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Trained specifically on:</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Marriage Law (Hindu Marriage Act, Special Marriage Act)</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Employment Law (</a:t>
            </a:r>
            <a:r>
              <a:rPr lang="en-US" sz="2300" b="1" dirty="0" err="1">
                <a:solidFill>
                  <a:srgbClr val="021828"/>
                </a:solidFill>
                <a:latin typeface="Helvetica World Bold"/>
                <a:ea typeface="Helvetica World Bold"/>
                <a:cs typeface="Helvetica World Bold"/>
                <a:sym typeface="Helvetica World Bold"/>
              </a:rPr>
              <a:t>Labour</a:t>
            </a:r>
            <a:r>
              <a:rPr lang="en-US" sz="2300" b="1" dirty="0">
                <a:solidFill>
                  <a:srgbClr val="021828"/>
                </a:solidFill>
                <a:latin typeface="Helvetica World Bold"/>
                <a:ea typeface="Helvetica World Bold"/>
                <a:cs typeface="Helvetica World Bold"/>
                <a:sym typeface="Helvetica World Bold"/>
              </a:rPr>
              <a:t> Codes, Employee Rights)</a:t>
            </a:r>
          </a:p>
          <a:p>
            <a:pPr marL="993151" lvl="2" indent="-331050">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Cyber Law</a:t>
            </a:r>
          </a:p>
          <a:p>
            <a:pPr marL="993151" lvl="2" indent="-331050">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Consumer Law</a:t>
            </a:r>
          </a:p>
          <a:p>
            <a:pPr marL="993151" lvl="2" indent="-331050">
              <a:lnSpc>
                <a:spcPts val="3220"/>
              </a:lnSpc>
              <a:buFont typeface="Arial"/>
              <a:buChar char="⚬"/>
            </a:pPr>
            <a:endParaRPr lang="en-US" sz="2300" b="1" dirty="0">
              <a:solidFill>
                <a:srgbClr val="021828"/>
              </a:solidFill>
              <a:latin typeface="Helvetica World Bold"/>
              <a:ea typeface="Helvetica World Bold"/>
              <a:cs typeface="Helvetica World Bold"/>
              <a:sym typeface="Helvetica World Bold"/>
            </a:endParaRP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Uses RAG (Retrieval + LLM)</a:t>
            </a: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Reduces hallucination</a:t>
            </a: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Explains laws in simple language</a:t>
            </a: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Example:</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“What are the grounds for divorce?”</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“What are employee rights during termination?”</a:t>
            </a:r>
          </a:p>
          <a:p>
            <a:pPr algn="ctr">
              <a:lnSpc>
                <a:spcPts val="3220"/>
              </a:lnSpc>
            </a:pPr>
            <a:endParaRPr lang="en-US" sz="2300" b="1" dirty="0">
              <a:solidFill>
                <a:srgbClr val="021828"/>
              </a:solidFill>
              <a:latin typeface="Helvetica World Bold"/>
              <a:ea typeface="Helvetica World Bold"/>
              <a:cs typeface="Helvetica World Bold"/>
              <a:sym typeface="Helvetica World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2500" y="-1054436"/>
            <a:ext cx="9274800" cy="2083136"/>
            <a:chOff x="0" y="0"/>
            <a:chExt cx="2442746" cy="548645"/>
          </a:xfrm>
        </p:grpSpPr>
        <p:sp>
          <p:nvSpPr>
            <p:cNvPr id="3" name="Freeform 3"/>
            <p:cNvSpPr/>
            <p:nvPr/>
          </p:nvSpPr>
          <p:spPr>
            <a:xfrm>
              <a:off x="0" y="0"/>
              <a:ext cx="2442746" cy="548645"/>
            </a:xfrm>
            <a:custGeom>
              <a:avLst/>
              <a:gdLst/>
              <a:ahLst/>
              <a:cxnLst/>
              <a:rect l="l" t="t" r="r" b="b"/>
              <a:pathLst>
                <a:path w="2442746" h="548645">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0345E4"/>
            </a:solidFill>
          </p:spPr>
        </p:sp>
        <p:sp>
          <p:nvSpPr>
            <p:cNvPr id="4" name="TextBox 4"/>
            <p:cNvSpPr txBox="1"/>
            <p:nvPr/>
          </p:nvSpPr>
          <p:spPr>
            <a:xfrm>
              <a:off x="0" y="-47625"/>
              <a:ext cx="2442746" cy="596270"/>
            </a:xfrm>
            <a:prstGeom prst="rect">
              <a:avLst/>
            </a:prstGeom>
          </p:spPr>
          <p:txBody>
            <a:bodyPr lIns="50800" tIns="50800" rIns="50800" bIns="50800" rtlCol="0" anchor="ctr"/>
            <a:lstStyle/>
            <a:p>
              <a:pPr algn="ctr">
                <a:lnSpc>
                  <a:spcPts val="3499"/>
                </a:lnSpc>
              </a:pPr>
              <a:endParaRPr/>
            </a:p>
          </p:txBody>
        </p:sp>
      </p:grpSp>
      <p:sp>
        <p:nvSpPr>
          <p:cNvPr id="5" name="Freeform 5"/>
          <p:cNvSpPr/>
          <p:nvPr/>
        </p:nvSpPr>
        <p:spPr>
          <a:xfrm>
            <a:off x="16554283" y="8460857"/>
            <a:ext cx="1733717" cy="1733717"/>
          </a:xfrm>
          <a:custGeom>
            <a:avLst/>
            <a:gdLst/>
            <a:ahLst/>
            <a:cxnLst/>
            <a:rect l="l" t="t" r="r" b="b"/>
            <a:pathLst>
              <a:path w="1733717" h="1733717">
                <a:moveTo>
                  <a:pt x="0" y="0"/>
                </a:moveTo>
                <a:lnTo>
                  <a:pt x="1733717" y="0"/>
                </a:lnTo>
                <a:lnTo>
                  <a:pt x="1733717" y="1733716"/>
                </a:lnTo>
                <a:lnTo>
                  <a:pt x="0" y="1733716"/>
                </a:lnTo>
                <a:lnTo>
                  <a:pt x="0"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6" name="Freeform 6"/>
          <p:cNvSpPr/>
          <p:nvPr/>
        </p:nvSpPr>
        <p:spPr>
          <a:xfrm flipH="1">
            <a:off x="0" y="8460857"/>
            <a:ext cx="1733717" cy="1733717"/>
          </a:xfrm>
          <a:custGeom>
            <a:avLst/>
            <a:gdLst/>
            <a:ahLst/>
            <a:cxnLst/>
            <a:rect l="l" t="t" r="r" b="b"/>
            <a:pathLst>
              <a:path w="1733717" h="1733717">
                <a:moveTo>
                  <a:pt x="1733717" y="0"/>
                </a:moveTo>
                <a:lnTo>
                  <a:pt x="0" y="0"/>
                </a:lnTo>
                <a:lnTo>
                  <a:pt x="0" y="1733716"/>
                </a:lnTo>
                <a:lnTo>
                  <a:pt x="1733717" y="1733716"/>
                </a:lnTo>
                <a:lnTo>
                  <a:pt x="1733717" y="0"/>
                </a:lnTo>
                <a:close/>
              </a:path>
            </a:pathLst>
          </a:custGeom>
          <a:blipFill>
            <a:blip>
              <a:alphaModFix amt="25000"/>
              <a:extLst>
                <a:ext uri="{96DAC541-7B7A-43D3-8B79-37D633B846F1}">
                  <asvg:svgBlip xmlns:asvg="http://schemas.microsoft.com/office/drawing/2016/SVG/main" r:embed="rId2"/>
                </a:ext>
              </a:extLst>
            </a:blip>
            <a:stretch>
              <a:fillRect/>
            </a:stretch>
          </a:blipFill>
        </p:spPr>
      </p:sp>
      <p:sp>
        <p:nvSpPr>
          <p:cNvPr id="7" name="TextBox 7"/>
          <p:cNvSpPr txBox="1"/>
          <p:nvPr/>
        </p:nvSpPr>
        <p:spPr>
          <a:xfrm>
            <a:off x="866858" y="2098076"/>
            <a:ext cx="9801663" cy="878533"/>
          </a:xfrm>
          <a:prstGeom prst="rect">
            <a:avLst/>
          </a:prstGeom>
        </p:spPr>
        <p:txBody>
          <a:bodyPr lIns="0" tIns="0" rIns="0" bIns="0" rtlCol="0" anchor="t">
            <a:spAutoFit/>
          </a:bodyPr>
          <a:lstStyle/>
          <a:p>
            <a:pPr algn="l">
              <a:lnSpc>
                <a:spcPts val="5888"/>
              </a:lnSpc>
            </a:pPr>
            <a:r>
              <a:rPr lang="en-US" sz="6400" b="1">
                <a:solidFill>
                  <a:srgbClr val="231F20"/>
                </a:solidFill>
                <a:latin typeface="Helvetica World Bold"/>
                <a:ea typeface="Helvetica World Bold"/>
                <a:cs typeface="Helvetica World Bold"/>
                <a:sym typeface="Helvetica World Bold"/>
              </a:rPr>
              <a:t>FIND LAWYER MODULE</a:t>
            </a:r>
          </a:p>
        </p:txBody>
      </p:sp>
      <p:sp>
        <p:nvSpPr>
          <p:cNvPr id="8" name="TextBox 8"/>
          <p:cNvSpPr txBox="1"/>
          <p:nvPr/>
        </p:nvSpPr>
        <p:spPr>
          <a:xfrm>
            <a:off x="333880" y="6584219"/>
            <a:ext cx="5985277" cy="434365"/>
          </a:xfrm>
          <a:prstGeom prst="rect">
            <a:avLst/>
          </a:prstGeom>
        </p:spPr>
        <p:txBody>
          <a:bodyPr lIns="0" tIns="0" rIns="0" bIns="0" rtlCol="0" anchor="t">
            <a:spAutoFit/>
          </a:bodyPr>
          <a:lstStyle/>
          <a:p>
            <a:pPr algn="ctr">
              <a:lnSpc>
                <a:spcPts val="3220"/>
              </a:lnSpc>
            </a:pPr>
            <a:r>
              <a:rPr lang="en-US" sz="2300" b="1">
                <a:solidFill>
                  <a:srgbClr val="FFFFFF"/>
                </a:solidFill>
                <a:latin typeface="Helvetica World Bold"/>
                <a:ea typeface="Helvetica World Bold"/>
                <a:cs typeface="Helvetica World Bold"/>
                <a:sym typeface="Helvetica World Bold"/>
              </a:rPr>
              <a:t>DOCUMENT ANALYZER WORKFLOW</a:t>
            </a:r>
          </a:p>
        </p:txBody>
      </p:sp>
      <p:sp>
        <p:nvSpPr>
          <p:cNvPr id="9" name="TextBox 9"/>
          <p:cNvSpPr txBox="1"/>
          <p:nvPr/>
        </p:nvSpPr>
        <p:spPr>
          <a:xfrm>
            <a:off x="2231771" y="3792121"/>
            <a:ext cx="8436750" cy="4885825"/>
          </a:xfrm>
          <a:prstGeom prst="rect">
            <a:avLst/>
          </a:prstGeom>
        </p:spPr>
        <p:txBody>
          <a:bodyPr lIns="0" tIns="0" rIns="0" bIns="0" rtlCol="0" anchor="t">
            <a:spAutoFit/>
          </a:bodyPr>
          <a:lstStyle/>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Displays lawyer profiles</a:t>
            </a: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Filters by:</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Expertise (Family, Employment, Civil, Criminal etc.)</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Experience</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Rating</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Rate</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Location</a:t>
            </a:r>
          </a:p>
          <a:p>
            <a:pPr marL="993151" lvl="2" indent="-331050"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Empanelment Type</a:t>
            </a:r>
          </a:p>
          <a:p>
            <a:pPr marL="993151" lvl="2" indent="-331050" algn="l">
              <a:lnSpc>
                <a:spcPts val="3220"/>
              </a:lnSpc>
              <a:buFont typeface="Arial"/>
              <a:buChar char="⚬"/>
            </a:pPr>
            <a:endParaRPr lang="en-US" sz="2300" b="1" dirty="0">
              <a:solidFill>
                <a:srgbClr val="021828"/>
              </a:solidFill>
              <a:latin typeface="Helvetica World Bold"/>
              <a:ea typeface="Helvetica World Bold"/>
              <a:cs typeface="Helvetica World Bold"/>
              <a:sym typeface="Helvetica World Bold"/>
            </a:endParaRP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Helps users choose the right lawyer quickly</a:t>
            </a:r>
          </a:p>
          <a:p>
            <a:pPr marL="496575" lvl="1" indent="-248288" algn="l">
              <a:lnSpc>
                <a:spcPts val="3220"/>
              </a:lnSpc>
              <a:buFont typeface="Arial"/>
              <a:buChar char="•"/>
            </a:pPr>
            <a:r>
              <a:rPr lang="en-US" sz="2300" b="1" dirty="0">
                <a:solidFill>
                  <a:srgbClr val="021828"/>
                </a:solidFill>
                <a:latin typeface="Helvetica World Bold"/>
                <a:ea typeface="Helvetica World Bold"/>
                <a:cs typeface="Helvetica World Bold"/>
                <a:sym typeface="Helvetica World Bold"/>
              </a:rPr>
              <a:t>Simple and professional dashboard</a:t>
            </a:r>
          </a:p>
          <a:p>
            <a:pPr algn="ctr">
              <a:lnSpc>
                <a:spcPts val="3220"/>
              </a:lnSpc>
            </a:pPr>
            <a:endParaRPr lang="en-US" sz="2300" b="1" dirty="0">
              <a:solidFill>
                <a:srgbClr val="021828"/>
              </a:solidFill>
              <a:latin typeface="Helvetica World Bold"/>
              <a:ea typeface="Helvetica World Bold"/>
              <a:cs typeface="Helvetica World Bold"/>
              <a:sym typeface="Helvetica World Bold"/>
            </a:endParaRPr>
          </a:p>
        </p:txBody>
      </p:sp>
      <p:grpSp>
        <p:nvGrpSpPr>
          <p:cNvPr id="10" name="Group 10"/>
          <p:cNvGrpSpPr/>
          <p:nvPr/>
        </p:nvGrpSpPr>
        <p:grpSpPr>
          <a:xfrm>
            <a:off x="-522500" y="9327715"/>
            <a:ext cx="9274800" cy="2083136"/>
            <a:chOff x="0" y="0"/>
            <a:chExt cx="2442746" cy="548645"/>
          </a:xfrm>
        </p:grpSpPr>
        <p:sp>
          <p:nvSpPr>
            <p:cNvPr id="11" name="Freeform 11"/>
            <p:cNvSpPr/>
            <p:nvPr/>
          </p:nvSpPr>
          <p:spPr>
            <a:xfrm>
              <a:off x="0" y="0"/>
              <a:ext cx="2442746" cy="548645"/>
            </a:xfrm>
            <a:custGeom>
              <a:avLst/>
              <a:gdLst/>
              <a:ahLst/>
              <a:cxnLst/>
              <a:rect l="l" t="t" r="r" b="b"/>
              <a:pathLst>
                <a:path w="2442746" h="548645">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0345E4"/>
            </a:solidFill>
          </p:spPr>
        </p:sp>
        <p:sp>
          <p:nvSpPr>
            <p:cNvPr id="12" name="TextBox 12"/>
            <p:cNvSpPr txBox="1"/>
            <p:nvPr/>
          </p:nvSpPr>
          <p:spPr>
            <a:xfrm>
              <a:off x="0" y="-47625"/>
              <a:ext cx="2442746" cy="596270"/>
            </a:xfrm>
            <a:prstGeom prst="rect">
              <a:avLst/>
            </a:prstGeom>
          </p:spPr>
          <p:txBody>
            <a:bodyPr lIns="50800" tIns="50800" rIns="50800" bIns="50800" rtlCol="0" anchor="ctr"/>
            <a:lstStyle/>
            <a:p>
              <a:pPr algn="ctr">
                <a:lnSpc>
                  <a:spcPts val="3499"/>
                </a:lnSpc>
              </a:pPr>
              <a:endParaRPr/>
            </a:p>
          </p:txBody>
        </p:sp>
      </p:grpSp>
      <p:grpSp>
        <p:nvGrpSpPr>
          <p:cNvPr id="13" name="Group 13"/>
          <p:cNvGrpSpPr/>
          <p:nvPr/>
        </p:nvGrpSpPr>
        <p:grpSpPr>
          <a:xfrm>
            <a:off x="16145655" y="-507873"/>
            <a:ext cx="2954728" cy="295472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rot="5400000">
            <a:off x="16145655" y="8408302"/>
            <a:ext cx="1479329" cy="1479329"/>
            <a:chOff x="0" y="0"/>
            <a:chExt cx="812800" cy="812800"/>
          </a:xfrm>
        </p:grpSpPr>
        <p:sp>
          <p:nvSpPr>
            <p:cNvPr id="17" name="Freeform 17"/>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rot="5400000">
            <a:off x="17097719" y="9336574"/>
            <a:ext cx="771724" cy="7717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58090"/>
            <a:ext cx="18288000" cy="2227431"/>
            <a:chOff x="0" y="0"/>
            <a:chExt cx="4816593" cy="586648"/>
          </a:xfrm>
        </p:grpSpPr>
        <p:sp>
          <p:nvSpPr>
            <p:cNvPr id="3" name="Freeform 3"/>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0345E4"/>
            </a:solidFill>
          </p:spPr>
        </p:sp>
        <p:sp>
          <p:nvSpPr>
            <p:cNvPr id="4" name="TextBox 4"/>
            <p:cNvSpPr txBox="1"/>
            <p:nvPr/>
          </p:nvSpPr>
          <p:spPr>
            <a:xfrm>
              <a:off x="0" y="-38100"/>
              <a:ext cx="4816593" cy="624748"/>
            </a:xfrm>
            <a:prstGeom prst="rect">
              <a:avLst/>
            </a:prstGeom>
          </p:spPr>
          <p:txBody>
            <a:bodyPr lIns="50800" tIns="50800" rIns="50800" bIns="50800" rtlCol="0" anchor="ctr"/>
            <a:lstStyle/>
            <a:p>
              <a:pPr algn="ctr">
                <a:lnSpc>
                  <a:spcPts val="2659"/>
                </a:lnSpc>
              </a:pPr>
              <a:endParaRPr/>
            </a:p>
          </p:txBody>
        </p:sp>
      </p:grpSp>
      <p:sp>
        <p:nvSpPr>
          <p:cNvPr id="5" name="AutoShape 5"/>
          <p:cNvSpPr/>
          <p:nvPr/>
        </p:nvSpPr>
        <p:spPr>
          <a:xfrm>
            <a:off x="15513393" y="404910"/>
            <a:ext cx="0" cy="1417611"/>
          </a:xfrm>
          <a:prstGeom prst="line">
            <a:avLst/>
          </a:prstGeom>
          <a:ln w="38100" cap="flat">
            <a:solidFill>
              <a:srgbClr val="FFFFFF"/>
            </a:solidFill>
            <a:prstDash val="solid"/>
            <a:headEnd type="none" w="sm" len="sm"/>
            <a:tailEnd type="none" w="sm" len="sm"/>
          </a:ln>
        </p:spPr>
      </p:sp>
      <p:grpSp>
        <p:nvGrpSpPr>
          <p:cNvPr id="6" name="Group 6"/>
          <p:cNvGrpSpPr/>
          <p:nvPr/>
        </p:nvGrpSpPr>
        <p:grpSpPr>
          <a:xfrm rot="5400000">
            <a:off x="901593" y="2672654"/>
            <a:ext cx="1479329" cy="1479329"/>
            <a:chOff x="0" y="0"/>
            <a:chExt cx="812800" cy="812800"/>
          </a:xfrm>
        </p:grpSpPr>
        <p:sp>
          <p:nvSpPr>
            <p:cNvPr id="7" name="Freeform 7"/>
            <p:cNvSpPr/>
            <p:nvPr/>
          </p:nvSpPr>
          <p:spPr>
            <a:xfrm>
              <a:off x="0" y="0"/>
              <a:ext cx="812800" cy="812800"/>
            </a:xfrm>
            <a:custGeom>
              <a:avLst/>
              <a:gdLst/>
              <a:ahLst/>
              <a:cxnLst/>
              <a:rect l="l" t="t" r="r" b="b"/>
              <a:pathLst>
                <a:path w="812800" h="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id="8" name="TextBox 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rot="5400000">
            <a:off x="1916531" y="3551900"/>
            <a:ext cx="771724" cy="771724"/>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6287059" y="8247665"/>
            <a:ext cx="2954728" cy="295472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382056" y="2340691"/>
            <a:ext cx="19052113" cy="7644660"/>
          </a:xfrm>
          <a:custGeom>
            <a:avLst/>
            <a:gdLst/>
            <a:ahLst/>
            <a:cxnLst/>
            <a:rect l="l" t="t" r="r" b="b"/>
            <a:pathLst>
              <a:path w="19052113" h="7644660">
                <a:moveTo>
                  <a:pt x="0" y="0"/>
                </a:moveTo>
                <a:lnTo>
                  <a:pt x="19052112" y="0"/>
                </a:lnTo>
                <a:lnTo>
                  <a:pt x="19052112" y="7644660"/>
                </a:lnTo>
                <a:lnTo>
                  <a:pt x="0" y="7644660"/>
                </a:lnTo>
                <a:lnTo>
                  <a:pt x="0" y="0"/>
                </a:lnTo>
                <a:close/>
              </a:path>
            </a:pathLst>
          </a:custGeom>
          <a:blipFill>
            <a:blip r:embed="rId2"/>
            <a:stretch>
              <a:fillRect/>
            </a:stretch>
          </a:blipFill>
        </p:spPr>
      </p:sp>
      <p:sp>
        <p:nvSpPr>
          <p:cNvPr id="16" name="TextBox 16"/>
          <p:cNvSpPr txBox="1"/>
          <p:nvPr/>
        </p:nvSpPr>
        <p:spPr>
          <a:xfrm>
            <a:off x="566345" y="508778"/>
            <a:ext cx="14615621" cy="26258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WORKFLOW DIAGRAM (OVERALL SYSTEM)</a:t>
            </a:r>
          </a:p>
          <a:p>
            <a:pPr algn="l">
              <a:lnSpc>
                <a:spcPts val="6999"/>
              </a:lnSpc>
            </a:pPr>
            <a:endParaRPr lang="en-US" sz="4999" b="1" spc="99">
              <a:solidFill>
                <a:srgbClr val="FFFFFF"/>
              </a:solidFill>
              <a:latin typeface="Garet Bold"/>
              <a:ea typeface="Garet Bold"/>
              <a:cs typeface="Garet Bold"/>
              <a:sym typeface="Garet Bold"/>
            </a:endParaRPr>
          </a:p>
          <a:p>
            <a:pPr algn="l">
              <a:lnSpc>
                <a:spcPts val="6999"/>
              </a:lnSpc>
            </a:pPr>
            <a:endParaRPr lang="en-US" sz="4999" b="1" spc="99">
              <a:solidFill>
                <a:srgbClr val="FFFFFF"/>
              </a:solidFill>
              <a:latin typeface="Garet Bold"/>
              <a:ea typeface="Garet Bold"/>
              <a:cs typeface="Garet Bold"/>
              <a:sym typeface="Garet Bold"/>
            </a:endParaRPr>
          </a:p>
        </p:txBody>
      </p:sp>
      <p:sp>
        <p:nvSpPr>
          <p:cNvPr id="17" name="TextBox 17"/>
          <p:cNvSpPr txBox="1"/>
          <p:nvPr/>
        </p:nvSpPr>
        <p:spPr>
          <a:xfrm>
            <a:off x="1809492" y="5673436"/>
            <a:ext cx="1752139" cy="931545"/>
          </a:xfrm>
          <a:prstGeom prst="rect">
            <a:avLst/>
          </a:prstGeom>
        </p:spPr>
        <p:txBody>
          <a:bodyPr lIns="0" tIns="0" rIns="0" bIns="0" rtlCol="0" anchor="t">
            <a:spAutoFit/>
          </a:bodyPr>
          <a:lstStyle/>
          <a:p>
            <a:pPr algn="ctr">
              <a:lnSpc>
                <a:spcPts val="3779"/>
              </a:lnSpc>
            </a:pPr>
            <a:r>
              <a:rPr lang="en-US" sz="2699" b="1">
                <a:solidFill>
                  <a:srgbClr val="FFFFFF"/>
                </a:solidFill>
                <a:latin typeface="Garet Bold"/>
                <a:ea typeface="Garet Bold"/>
                <a:cs typeface="Garet Bold"/>
                <a:sym typeface="Garet Bold"/>
              </a:rPr>
              <a:t>Upload Laws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919853" y="2667533"/>
          <a:ext cx="16448294" cy="7541076"/>
        </p:xfrm>
        <a:graphic>
          <a:graphicData uri="http://schemas.openxmlformats.org/drawingml/2006/table">
            <a:tbl>
              <a:tblPr/>
              <a:tblGrid>
                <a:gridCol w="5815920">
                  <a:extLst>
                    <a:ext uri="{9D8B030D-6E8A-4147-A177-3AD203B41FA5}">
                      <a16:colId xmlns:a16="http://schemas.microsoft.com/office/drawing/2014/main" val="20000"/>
                    </a:ext>
                  </a:extLst>
                </a:gridCol>
                <a:gridCol w="10632374">
                  <a:extLst>
                    <a:ext uri="{9D8B030D-6E8A-4147-A177-3AD203B41FA5}">
                      <a16:colId xmlns:a16="http://schemas.microsoft.com/office/drawing/2014/main" val="20001"/>
                    </a:ext>
                  </a:extLst>
                </a:gridCol>
              </a:tblGrid>
              <a:tr h="1612093">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00000"/>
                    </a:solidFill>
                  </a:tcPr>
                </a:tc>
                <a:tc>
                  <a:txBody>
                    <a:bodyPr/>
                    <a:lstStyle/>
                    <a:p>
                      <a:pPr algn="ctr">
                        <a:lnSpc>
                          <a:spcPts val="3079"/>
                        </a:lnSpc>
                        <a:defRPr/>
                      </a:pPr>
                      <a:r>
                        <a:rPr lang="en-US" sz="2199" b="1">
                          <a:solidFill>
                            <a:srgbClr val="FFFFFF"/>
                          </a:solidFill>
                          <a:latin typeface="Garet Bold"/>
                          <a:ea typeface="Garet Bold"/>
                          <a:cs typeface="Garet Bold"/>
                          <a:sym typeface="Garet Bold"/>
                        </a:rPr>
                        <a:t>Role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extLst>
                  <a:ext uri="{0D108BD9-81ED-4DB2-BD59-A6C34878D82A}">
                    <a16:rowId xmlns:a16="http://schemas.microsoft.com/office/drawing/2014/main" val="10000"/>
                  </a:ext>
                </a:extLst>
              </a:tr>
              <a:tr h="1009847">
                <a:tc>
                  <a:txBody>
                    <a:bodyPr/>
                    <a:lstStyle/>
                    <a:p>
                      <a:pPr algn="ctr">
                        <a:lnSpc>
                          <a:spcPts val="2939"/>
                        </a:lnSpc>
                        <a:defRPr/>
                      </a:pPr>
                      <a:r>
                        <a:rPr lang="en-US" sz="2099" b="1">
                          <a:solidFill>
                            <a:srgbClr val="FFFFFF"/>
                          </a:solidFill>
                          <a:latin typeface="Garet Bold"/>
                          <a:ea typeface="Garet Bold"/>
                          <a:cs typeface="Garet Bold"/>
                          <a:sym typeface="Garet Bold"/>
                        </a:rPr>
                        <a:t>HuggingFace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3730">
                <a:tc>
                  <a:txBody>
                    <a:bodyPr/>
                    <a:lstStyle/>
                    <a:p>
                      <a:pPr algn="ctr">
                        <a:lnSpc>
                          <a:spcPts val="2939"/>
                        </a:lnSpc>
                        <a:defRPr/>
                      </a:pPr>
                      <a:r>
                        <a:rPr lang="en-US" sz="2099" b="1">
                          <a:solidFill>
                            <a:srgbClr val="FFFFFF"/>
                          </a:solidFill>
                          <a:latin typeface="Garet Bold"/>
                          <a:ea typeface="Garet Bold"/>
                          <a:cs typeface="Garet Bold"/>
                          <a:sym typeface="Garet Bold"/>
                        </a:rPr>
                        <a:t>FAISS (Facebook AI)</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10921">
                <a:tc>
                  <a:txBody>
                    <a:bodyPr/>
                    <a:lstStyle/>
                    <a:p>
                      <a:pPr algn="ctr">
                        <a:lnSpc>
                          <a:spcPts val="2939"/>
                        </a:lnSpc>
                        <a:defRPr/>
                      </a:pPr>
                      <a:r>
                        <a:rPr lang="en-US" sz="2099" b="1">
                          <a:solidFill>
                            <a:srgbClr val="FFFFFF"/>
                          </a:solidFill>
                          <a:latin typeface="Garet Bold"/>
                          <a:ea typeface="Garet Bold"/>
                          <a:cs typeface="Garet Bold"/>
                          <a:sym typeface="Garet Bold"/>
                        </a:rPr>
                        <a:t>Groq LLM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4217">
                <a:tc>
                  <a:txBody>
                    <a:bodyPr/>
                    <a:lstStyle/>
                    <a:p>
                      <a:pPr algn="ctr">
                        <a:lnSpc>
                          <a:spcPts val="2939"/>
                        </a:lnSpc>
                        <a:defRPr/>
                      </a:pPr>
                      <a:r>
                        <a:rPr lang="en-US" sz="2099" b="1">
                          <a:solidFill>
                            <a:srgbClr val="FFFFFF"/>
                          </a:solidFill>
                          <a:latin typeface="Garet Bold"/>
                          <a:ea typeface="Garet Bold"/>
                          <a:cs typeface="Garet Bold"/>
                          <a:sym typeface="Garet Bold"/>
                        </a:rPr>
                        <a:t>PyPDF2 / OCR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55134">
                <a:tc>
                  <a:txBody>
                    <a:bodyPr/>
                    <a:lstStyle/>
                    <a:p>
                      <a:pPr algn="ctr">
                        <a:lnSpc>
                          <a:spcPts val="2939"/>
                        </a:lnSpc>
                        <a:defRPr/>
                      </a:pPr>
                      <a:r>
                        <a:rPr lang="en-US" sz="2099" b="1">
                          <a:solidFill>
                            <a:srgbClr val="FFFFFF"/>
                          </a:solidFill>
                          <a:latin typeface="Garet Bold"/>
                          <a:ea typeface="Garet Bold"/>
                          <a:cs typeface="Garet Bold"/>
                          <a:sym typeface="Garet Bold"/>
                        </a:rPr>
                        <a:t>Streamlit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955134">
                <a:tc>
                  <a:txBody>
                    <a:bodyPr/>
                    <a:lstStyle/>
                    <a:p>
                      <a:pPr algn="ctr">
                        <a:lnSpc>
                          <a:spcPts val="2939"/>
                        </a:lnSpc>
                        <a:defRPr/>
                      </a:pPr>
                      <a:r>
                        <a:rPr lang="en-US" sz="2099" b="1">
                          <a:solidFill>
                            <a:srgbClr val="FFFFFF"/>
                          </a:solidFill>
                          <a:latin typeface="Garet Bold"/>
                          <a:ea typeface="Garet Bold"/>
                          <a:cs typeface="Garet Bold"/>
                          <a:sym typeface="Garet Bold"/>
                        </a:rPr>
                        <a:t>Python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0345E4"/>
                    </a:solidFill>
                  </a:tcPr>
                </a:tc>
                <a:tc>
                  <a:txBody>
                    <a:bodyPr/>
                    <a:lstStyle/>
                    <a:p>
                      <a:pPr algn="ctr">
                        <a:lnSpc>
                          <a:spcPts val="2939"/>
                        </a:lnSpc>
                        <a:defRPr/>
                      </a:pP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pSp>
        <p:nvGrpSpPr>
          <p:cNvPr id="3" name="Group 3"/>
          <p:cNvGrpSpPr/>
          <p:nvPr/>
        </p:nvGrpSpPr>
        <p:grpSpPr>
          <a:xfrm>
            <a:off x="0" y="0"/>
            <a:ext cx="18288000" cy="2227431"/>
            <a:chOff x="0" y="0"/>
            <a:chExt cx="4816593" cy="586648"/>
          </a:xfrm>
        </p:grpSpPr>
        <p:sp>
          <p:nvSpPr>
            <p:cNvPr id="4" name="Freeform 4"/>
            <p:cNvSpPr/>
            <p:nvPr/>
          </p:nvSpPr>
          <p:spPr>
            <a:xfrm>
              <a:off x="0" y="0"/>
              <a:ext cx="4816592" cy="586648"/>
            </a:xfrm>
            <a:custGeom>
              <a:avLst/>
              <a:gdLst/>
              <a:ahLst/>
              <a:cxnLst/>
              <a:rect l="l" t="t" r="r" b="b"/>
              <a:pathLst>
                <a:path w="4816592" h="586648">
                  <a:moveTo>
                    <a:pt x="0" y="0"/>
                  </a:moveTo>
                  <a:lnTo>
                    <a:pt x="4816592" y="0"/>
                  </a:lnTo>
                  <a:lnTo>
                    <a:pt x="4816592" y="586648"/>
                  </a:lnTo>
                  <a:lnTo>
                    <a:pt x="0" y="586648"/>
                  </a:lnTo>
                  <a:close/>
                </a:path>
              </a:pathLst>
            </a:custGeom>
            <a:solidFill>
              <a:srgbClr val="0345E4"/>
            </a:solidFill>
          </p:spPr>
        </p:sp>
        <p:sp>
          <p:nvSpPr>
            <p:cNvPr id="5" name="TextBox 5"/>
            <p:cNvSpPr txBox="1"/>
            <p:nvPr/>
          </p:nvSpPr>
          <p:spPr>
            <a:xfrm>
              <a:off x="0" y="-38100"/>
              <a:ext cx="4816593" cy="624748"/>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919853" y="197774"/>
            <a:ext cx="8224147" cy="2625876"/>
          </a:xfrm>
          <a:prstGeom prst="rect">
            <a:avLst/>
          </a:prstGeom>
        </p:spPr>
        <p:txBody>
          <a:bodyPr lIns="0" tIns="0" rIns="0" bIns="0" rtlCol="0" anchor="t">
            <a:spAutoFit/>
          </a:bodyPr>
          <a:lstStyle/>
          <a:p>
            <a:pPr algn="l">
              <a:lnSpc>
                <a:spcPts val="6999"/>
              </a:lnSpc>
            </a:pPr>
            <a:r>
              <a:rPr lang="en-US" sz="4999" b="1" spc="99">
                <a:solidFill>
                  <a:srgbClr val="FFFFFF"/>
                </a:solidFill>
                <a:latin typeface="Garet Bold"/>
                <a:ea typeface="Garet Bold"/>
                <a:cs typeface="Garet Bold"/>
                <a:sym typeface="Garet Bold"/>
              </a:rPr>
              <a:t>KEY TECHNOLOGIES USED</a:t>
            </a:r>
          </a:p>
          <a:p>
            <a:pPr algn="l">
              <a:lnSpc>
                <a:spcPts val="6999"/>
              </a:lnSpc>
            </a:pPr>
            <a:endParaRPr lang="en-US" sz="4999" b="1" spc="99">
              <a:solidFill>
                <a:srgbClr val="FFFFFF"/>
              </a:solidFill>
              <a:latin typeface="Garet Bold"/>
              <a:ea typeface="Garet Bold"/>
              <a:cs typeface="Garet Bold"/>
              <a:sym typeface="Garet Bold"/>
            </a:endParaRPr>
          </a:p>
        </p:txBody>
      </p:sp>
      <p:sp>
        <p:nvSpPr>
          <p:cNvPr id="7" name="AutoShape 7"/>
          <p:cNvSpPr/>
          <p:nvPr/>
        </p:nvSpPr>
        <p:spPr>
          <a:xfrm>
            <a:off x="9651861" y="491153"/>
            <a:ext cx="0" cy="1417611"/>
          </a:xfrm>
          <a:prstGeom prst="line">
            <a:avLst/>
          </a:prstGeom>
          <a:ln w="38100" cap="flat">
            <a:solidFill>
              <a:srgbClr val="FFFFFF"/>
            </a:solidFill>
            <a:prstDash val="solid"/>
            <a:headEnd type="none" w="sm" len="sm"/>
            <a:tailEnd type="none" w="sm" len="sm"/>
          </a:ln>
        </p:spPr>
      </p:sp>
      <p:sp>
        <p:nvSpPr>
          <p:cNvPr id="8" name="Freeform 8"/>
          <p:cNvSpPr/>
          <p:nvPr/>
        </p:nvSpPr>
        <p:spPr>
          <a:xfrm>
            <a:off x="2144998" y="3133509"/>
            <a:ext cx="586293" cy="483692"/>
          </a:xfrm>
          <a:custGeom>
            <a:avLst/>
            <a:gdLst/>
            <a:ahLst/>
            <a:cxnLst/>
            <a:rect l="l" t="t" r="r" b="b"/>
            <a:pathLst>
              <a:path w="586293" h="483692">
                <a:moveTo>
                  <a:pt x="0" y="0"/>
                </a:moveTo>
                <a:lnTo>
                  <a:pt x="586293" y="0"/>
                </a:lnTo>
                <a:lnTo>
                  <a:pt x="586293" y="483692"/>
                </a:lnTo>
                <a:lnTo>
                  <a:pt x="0" y="48369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6951667" y="4477621"/>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2950429" y="3156926"/>
            <a:ext cx="2743103" cy="389233"/>
          </a:xfrm>
          <a:prstGeom prst="rect">
            <a:avLst/>
          </a:prstGeom>
        </p:spPr>
        <p:txBody>
          <a:bodyPr lIns="0" tIns="0" rIns="0" bIns="0" rtlCol="0" anchor="t">
            <a:spAutoFit/>
          </a:bodyPr>
          <a:lstStyle/>
          <a:p>
            <a:pPr algn="l">
              <a:lnSpc>
                <a:spcPts val="3220"/>
              </a:lnSpc>
            </a:pPr>
            <a:r>
              <a:rPr lang="en-US" sz="2300" b="1">
                <a:solidFill>
                  <a:srgbClr val="FFFFFF"/>
                </a:solidFill>
                <a:latin typeface="Garet Bold"/>
                <a:ea typeface="Garet Bold"/>
                <a:cs typeface="Garet Bold"/>
                <a:sym typeface="Garet Bold"/>
              </a:rPr>
              <a:t>Technology</a:t>
            </a:r>
          </a:p>
        </p:txBody>
      </p:sp>
      <p:sp>
        <p:nvSpPr>
          <p:cNvPr id="11" name="TextBox 11"/>
          <p:cNvSpPr txBox="1"/>
          <p:nvPr/>
        </p:nvSpPr>
        <p:spPr>
          <a:xfrm>
            <a:off x="7680431" y="4468501"/>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Converts text to AI-readable numbers (Embeddings).</a:t>
            </a:r>
          </a:p>
        </p:txBody>
      </p:sp>
      <p:sp>
        <p:nvSpPr>
          <p:cNvPr id="12" name="Freeform 12"/>
          <p:cNvSpPr/>
          <p:nvPr/>
        </p:nvSpPr>
        <p:spPr>
          <a:xfrm>
            <a:off x="6951667" y="5468644"/>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7680431" y="5459524"/>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Lightning-fast law search system.</a:t>
            </a:r>
          </a:p>
        </p:txBody>
      </p:sp>
      <p:sp>
        <p:nvSpPr>
          <p:cNvPr id="14" name="Freeform 14"/>
          <p:cNvSpPr/>
          <p:nvPr/>
        </p:nvSpPr>
        <p:spPr>
          <a:xfrm>
            <a:off x="6951667" y="6458216"/>
            <a:ext cx="494272" cy="494272"/>
          </a:xfrm>
          <a:custGeom>
            <a:avLst/>
            <a:gdLst/>
            <a:ahLst/>
            <a:cxnLst/>
            <a:rect l="l" t="t" r="r" b="b"/>
            <a:pathLst>
              <a:path w="494272" h="494272">
                <a:moveTo>
                  <a:pt x="0" y="0"/>
                </a:moveTo>
                <a:lnTo>
                  <a:pt x="494272" y="0"/>
                </a:lnTo>
                <a:lnTo>
                  <a:pt x="494272" y="494273"/>
                </a:lnTo>
                <a:lnTo>
                  <a:pt x="0" y="4942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7680431" y="6449097"/>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Generates human-like legal answers.</a:t>
            </a:r>
          </a:p>
        </p:txBody>
      </p:sp>
      <p:sp>
        <p:nvSpPr>
          <p:cNvPr id="16" name="Freeform 16"/>
          <p:cNvSpPr/>
          <p:nvPr/>
        </p:nvSpPr>
        <p:spPr>
          <a:xfrm>
            <a:off x="6951667" y="7447789"/>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7" name="TextBox 17"/>
          <p:cNvSpPr txBox="1"/>
          <p:nvPr/>
        </p:nvSpPr>
        <p:spPr>
          <a:xfrm>
            <a:off x="7680431" y="7438669"/>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Text Extraction</a:t>
            </a:r>
          </a:p>
        </p:txBody>
      </p:sp>
      <p:sp>
        <p:nvSpPr>
          <p:cNvPr id="18" name="Freeform 18"/>
          <p:cNvSpPr/>
          <p:nvPr/>
        </p:nvSpPr>
        <p:spPr>
          <a:xfrm>
            <a:off x="6951667" y="8527658"/>
            <a:ext cx="494272" cy="494272"/>
          </a:xfrm>
          <a:custGeom>
            <a:avLst/>
            <a:gdLst/>
            <a:ahLst/>
            <a:cxnLst/>
            <a:rect l="l" t="t" r="r" b="b"/>
            <a:pathLst>
              <a:path w="494272" h="494272">
                <a:moveTo>
                  <a:pt x="0" y="0"/>
                </a:moveTo>
                <a:lnTo>
                  <a:pt x="494272" y="0"/>
                </a:lnTo>
                <a:lnTo>
                  <a:pt x="494272" y="494273"/>
                </a:lnTo>
                <a:lnTo>
                  <a:pt x="0" y="4942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9" name="TextBox 19"/>
          <p:cNvSpPr txBox="1"/>
          <p:nvPr/>
        </p:nvSpPr>
        <p:spPr>
          <a:xfrm>
            <a:off x="7680431" y="8518539"/>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Web interface for the chatbot.</a:t>
            </a:r>
          </a:p>
        </p:txBody>
      </p:sp>
      <p:sp>
        <p:nvSpPr>
          <p:cNvPr id="20" name="Freeform 20"/>
          <p:cNvSpPr/>
          <p:nvPr/>
        </p:nvSpPr>
        <p:spPr>
          <a:xfrm>
            <a:off x="6951667" y="9517231"/>
            <a:ext cx="494272" cy="494272"/>
          </a:xfrm>
          <a:custGeom>
            <a:avLst/>
            <a:gdLst/>
            <a:ahLst/>
            <a:cxnLst/>
            <a:rect l="l" t="t" r="r" b="b"/>
            <a:pathLst>
              <a:path w="494272" h="494272">
                <a:moveTo>
                  <a:pt x="0" y="0"/>
                </a:moveTo>
                <a:lnTo>
                  <a:pt x="494272" y="0"/>
                </a:lnTo>
                <a:lnTo>
                  <a:pt x="494272" y="494272"/>
                </a:lnTo>
                <a:lnTo>
                  <a:pt x="0" y="49427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1" name="TextBox 21"/>
          <p:cNvSpPr txBox="1"/>
          <p:nvPr/>
        </p:nvSpPr>
        <p:spPr>
          <a:xfrm>
            <a:off x="7680431" y="9507300"/>
            <a:ext cx="9328172" cy="436312"/>
          </a:xfrm>
          <a:prstGeom prst="rect">
            <a:avLst/>
          </a:prstGeom>
        </p:spPr>
        <p:txBody>
          <a:bodyPr lIns="0" tIns="0" rIns="0" bIns="0" rtlCol="0" anchor="t">
            <a:spAutoFit/>
          </a:bodyPr>
          <a:lstStyle/>
          <a:p>
            <a:pPr marL="0" lvl="0" indent="0" algn="just">
              <a:lnSpc>
                <a:spcPts val="3720"/>
              </a:lnSpc>
            </a:pPr>
            <a:r>
              <a:rPr lang="en-US" sz="2400">
                <a:solidFill>
                  <a:srgbClr val="000000"/>
                </a:solidFill>
                <a:latin typeface="Open Sans"/>
                <a:ea typeface="Open Sans"/>
                <a:cs typeface="Open Sans"/>
                <a:sym typeface="Open Sans"/>
              </a:rPr>
              <a:t>Used for writing the codes &amp; implementation.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345E4"/>
        </a:solidFill>
        <a:effectLst/>
      </p:bgPr>
    </p:bg>
    <p:spTree>
      <p:nvGrpSpPr>
        <p:cNvPr id="1" name=""/>
        <p:cNvGrpSpPr/>
        <p:nvPr/>
      </p:nvGrpSpPr>
      <p:grpSpPr>
        <a:xfrm>
          <a:off x="0" y="0"/>
          <a:ext cx="0" cy="0"/>
          <a:chOff x="0" y="0"/>
          <a:chExt cx="0" cy="0"/>
        </a:xfrm>
      </p:grpSpPr>
      <p:sp>
        <p:nvSpPr>
          <p:cNvPr id="2" name="Freeform 2"/>
          <p:cNvSpPr/>
          <p:nvPr/>
        </p:nvSpPr>
        <p:spPr>
          <a:xfrm rot="-5400000" flipV="1">
            <a:off x="15177010" y="-1253949"/>
            <a:ext cx="2720897" cy="5228794"/>
          </a:xfrm>
          <a:custGeom>
            <a:avLst/>
            <a:gdLst/>
            <a:ahLst/>
            <a:cxnLst/>
            <a:rect l="l" t="t" r="r" b="b"/>
            <a:pathLst>
              <a:path w="2720897" h="5228794">
                <a:moveTo>
                  <a:pt x="0" y="5228795"/>
                </a:moveTo>
                <a:lnTo>
                  <a:pt x="2720897" y="5228795"/>
                </a:lnTo>
                <a:lnTo>
                  <a:pt x="2720897" y="0"/>
                </a:lnTo>
                <a:lnTo>
                  <a:pt x="0" y="0"/>
                </a:lnTo>
                <a:lnTo>
                  <a:pt x="0" y="5228795"/>
                </a:lnTo>
                <a:close/>
              </a:path>
            </a:pathLst>
          </a:custGeom>
          <a:blipFill>
            <a:blip r:embed="rId2"/>
            <a:stretch>
              <a:fillRect/>
            </a:stretch>
          </a:blipFill>
        </p:spPr>
      </p:sp>
      <p:sp>
        <p:nvSpPr>
          <p:cNvPr id="3" name="TextBox 3"/>
          <p:cNvSpPr txBox="1"/>
          <p:nvPr/>
        </p:nvSpPr>
        <p:spPr>
          <a:xfrm>
            <a:off x="1883180" y="1367622"/>
            <a:ext cx="14786917" cy="1135756"/>
          </a:xfrm>
          <a:prstGeom prst="rect">
            <a:avLst/>
          </a:prstGeom>
        </p:spPr>
        <p:txBody>
          <a:bodyPr lIns="0" tIns="0" rIns="0" bIns="0" rtlCol="0" anchor="t">
            <a:spAutoFit/>
          </a:bodyPr>
          <a:lstStyle/>
          <a:p>
            <a:pPr algn="ctr">
              <a:lnSpc>
                <a:spcPts val="8655"/>
              </a:lnSpc>
            </a:pPr>
            <a:r>
              <a:rPr lang="en-US" sz="8165" spc="816">
                <a:solidFill>
                  <a:srgbClr val="FFFFFF"/>
                </a:solidFill>
                <a:latin typeface="League Spartan"/>
                <a:ea typeface="League Spartan"/>
                <a:cs typeface="League Spartan"/>
                <a:sym typeface="League Spartan"/>
              </a:rPr>
              <a:t>ADVANTAGES </a:t>
            </a:r>
          </a:p>
        </p:txBody>
      </p:sp>
      <p:sp>
        <p:nvSpPr>
          <p:cNvPr id="4" name="Freeform 4"/>
          <p:cNvSpPr/>
          <p:nvPr/>
        </p:nvSpPr>
        <p:spPr>
          <a:xfrm rot="-5400000">
            <a:off x="390093" y="-1471468"/>
            <a:ext cx="2720897" cy="5228794"/>
          </a:xfrm>
          <a:custGeom>
            <a:avLst/>
            <a:gdLst/>
            <a:ahLst/>
            <a:cxnLst/>
            <a:rect l="l" t="t" r="r" b="b"/>
            <a:pathLst>
              <a:path w="2720897" h="5228794">
                <a:moveTo>
                  <a:pt x="0" y="0"/>
                </a:moveTo>
                <a:lnTo>
                  <a:pt x="2720897" y="0"/>
                </a:lnTo>
                <a:lnTo>
                  <a:pt x="2720897" y="5228794"/>
                </a:lnTo>
                <a:lnTo>
                  <a:pt x="0" y="5228794"/>
                </a:lnTo>
                <a:lnTo>
                  <a:pt x="0" y="0"/>
                </a:lnTo>
                <a:close/>
              </a:path>
            </a:pathLst>
          </a:custGeom>
          <a:blipFill>
            <a:blip r:embed="rId2"/>
            <a:stretch>
              <a:fillRect/>
            </a:stretch>
          </a:blipFill>
        </p:spPr>
      </p:sp>
      <p:grpSp>
        <p:nvGrpSpPr>
          <p:cNvPr id="5" name="Group 5"/>
          <p:cNvGrpSpPr/>
          <p:nvPr/>
        </p:nvGrpSpPr>
        <p:grpSpPr>
          <a:xfrm>
            <a:off x="1883180" y="5535647"/>
            <a:ext cx="6033057" cy="1145622"/>
            <a:chOff x="0" y="0"/>
            <a:chExt cx="2536360" cy="481632"/>
          </a:xfrm>
        </p:grpSpPr>
        <p:sp>
          <p:nvSpPr>
            <p:cNvPr id="6" name="Freeform 6"/>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7" name="TextBox 7"/>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139644" y="5893956"/>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Works with real legal documents.</a:t>
            </a:r>
          </a:p>
        </p:txBody>
      </p:sp>
      <p:sp>
        <p:nvSpPr>
          <p:cNvPr id="9" name="TextBox 9"/>
          <p:cNvSpPr txBox="1"/>
          <p:nvPr/>
        </p:nvSpPr>
        <p:spPr>
          <a:xfrm>
            <a:off x="1883180" y="8261940"/>
            <a:ext cx="6719127" cy="1251270"/>
          </a:xfrm>
          <a:prstGeom prst="rect">
            <a:avLst/>
          </a:prstGeom>
        </p:spPr>
        <p:txBody>
          <a:bodyPr lIns="0" tIns="0" rIns="0" bIns="0" rtlCol="0" anchor="t">
            <a:spAutoFit/>
          </a:bodyPr>
          <a:lstStyle/>
          <a:p>
            <a:pPr algn="l">
              <a:lnSpc>
                <a:spcPts val="2491"/>
              </a:lnSpc>
              <a:spcBef>
                <a:spcPct val="0"/>
              </a:spcBef>
            </a:pPr>
            <a:r>
              <a:rPr lang="en-US" sz="1779">
                <a:solidFill>
                  <a:srgbClr val="194A8D"/>
                </a:solidFill>
                <a:latin typeface="Arimo"/>
                <a:ea typeface="Arimo"/>
                <a:cs typeface="Arimo"/>
                <a:sym typeface="Arimo"/>
              </a:rPr>
              <a:t>Lorem ipsum dolor sit amet, consectetur adipiscing elit. Suspendisse quis enim pretium, bibendum ante ullamcorper, tincidunt augue. Nunc sed lorem aliquam, malesuada lectus eu, placerat lorem. Proin at aliquet sapien, vitae elementum mi. </a:t>
            </a:r>
          </a:p>
        </p:txBody>
      </p:sp>
      <p:grpSp>
        <p:nvGrpSpPr>
          <p:cNvPr id="10" name="Group 10"/>
          <p:cNvGrpSpPr/>
          <p:nvPr/>
        </p:nvGrpSpPr>
        <p:grpSpPr>
          <a:xfrm>
            <a:off x="10160710" y="5535647"/>
            <a:ext cx="6033057" cy="1145622"/>
            <a:chOff x="0" y="0"/>
            <a:chExt cx="2536360" cy="481632"/>
          </a:xfrm>
        </p:grpSpPr>
        <p:sp>
          <p:nvSpPr>
            <p:cNvPr id="11" name="Freeform 11"/>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12" name="TextBox 12"/>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10417174" y="5866529"/>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Helps students, citizens, and beginners.</a:t>
            </a:r>
          </a:p>
        </p:txBody>
      </p:sp>
      <p:grpSp>
        <p:nvGrpSpPr>
          <p:cNvPr id="14" name="Group 14"/>
          <p:cNvGrpSpPr/>
          <p:nvPr/>
        </p:nvGrpSpPr>
        <p:grpSpPr>
          <a:xfrm>
            <a:off x="1883180" y="7616870"/>
            <a:ext cx="6033057" cy="1145622"/>
            <a:chOff x="0" y="0"/>
            <a:chExt cx="2536360" cy="481632"/>
          </a:xfrm>
        </p:grpSpPr>
        <p:sp>
          <p:nvSpPr>
            <p:cNvPr id="15" name="Freeform 15"/>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16" name="TextBox 16"/>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2139644" y="7975179"/>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Fast &amp; reliable.</a:t>
            </a:r>
          </a:p>
        </p:txBody>
      </p:sp>
      <p:grpSp>
        <p:nvGrpSpPr>
          <p:cNvPr id="18" name="Group 18"/>
          <p:cNvGrpSpPr/>
          <p:nvPr/>
        </p:nvGrpSpPr>
        <p:grpSpPr>
          <a:xfrm>
            <a:off x="10160710" y="7616870"/>
            <a:ext cx="6033057" cy="1145622"/>
            <a:chOff x="0" y="0"/>
            <a:chExt cx="2536360" cy="481632"/>
          </a:xfrm>
        </p:grpSpPr>
        <p:sp>
          <p:nvSpPr>
            <p:cNvPr id="19" name="Freeform 19"/>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20" name="TextBox 20"/>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0417174" y="7947752"/>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Easy to scale into more legal domains.</a:t>
            </a:r>
          </a:p>
        </p:txBody>
      </p:sp>
      <p:grpSp>
        <p:nvGrpSpPr>
          <p:cNvPr id="22" name="Group 22"/>
          <p:cNvGrpSpPr/>
          <p:nvPr/>
        </p:nvGrpSpPr>
        <p:grpSpPr>
          <a:xfrm>
            <a:off x="1883180" y="3456575"/>
            <a:ext cx="6033057" cy="1145622"/>
            <a:chOff x="0" y="0"/>
            <a:chExt cx="2536360" cy="481632"/>
          </a:xfrm>
        </p:grpSpPr>
        <p:sp>
          <p:nvSpPr>
            <p:cNvPr id="23" name="Freeform 23"/>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24" name="TextBox 24"/>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2139644" y="3814884"/>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Accurate legal answers (RAG-based).</a:t>
            </a:r>
          </a:p>
        </p:txBody>
      </p:sp>
      <p:grpSp>
        <p:nvGrpSpPr>
          <p:cNvPr id="26" name="Group 26"/>
          <p:cNvGrpSpPr/>
          <p:nvPr/>
        </p:nvGrpSpPr>
        <p:grpSpPr>
          <a:xfrm>
            <a:off x="10160710" y="3456575"/>
            <a:ext cx="6033057" cy="1145622"/>
            <a:chOff x="0" y="0"/>
            <a:chExt cx="2536360" cy="481632"/>
          </a:xfrm>
        </p:grpSpPr>
        <p:sp>
          <p:nvSpPr>
            <p:cNvPr id="27" name="Freeform 27"/>
            <p:cNvSpPr/>
            <p:nvPr/>
          </p:nvSpPr>
          <p:spPr>
            <a:xfrm>
              <a:off x="0" y="0"/>
              <a:ext cx="2536360" cy="481632"/>
            </a:xfrm>
            <a:custGeom>
              <a:avLst/>
              <a:gdLst/>
              <a:ahLst/>
              <a:cxnLst/>
              <a:rect l="l" t="t" r="r" b="b"/>
              <a:pathLst>
                <a:path w="2536360" h="481632">
                  <a:moveTo>
                    <a:pt x="65446" y="0"/>
                  </a:moveTo>
                  <a:lnTo>
                    <a:pt x="2470914" y="0"/>
                  </a:lnTo>
                  <a:cubicBezTo>
                    <a:pt x="2507059" y="0"/>
                    <a:pt x="2536360" y="29301"/>
                    <a:pt x="2536360" y="65446"/>
                  </a:cubicBezTo>
                  <a:lnTo>
                    <a:pt x="2536360" y="416186"/>
                  </a:lnTo>
                  <a:cubicBezTo>
                    <a:pt x="2536360" y="452331"/>
                    <a:pt x="2507059" y="481632"/>
                    <a:pt x="2470914" y="481632"/>
                  </a:cubicBezTo>
                  <a:lnTo>
                    <a:pt x="65446" y="481632"/>
                  </a:lnTo>
                  <a:cubicBezTo>
                    <a:pt x="29301" y="481632"/>
                    <a:pt x="0" y="452331"/>
                    <a:pt x="0" y="416186"/>
                  </a:cubicBezTo>
                  <a:lnTo>
                    <a:pt x="0" y="65446"/>
                  </a:lnTo>
                  <a:cubicBezTo>
                    <a:pt x="0" y="29301"/>
                    <a:pt x="29301" y="0"/>
                    <a:pt x="65446" y="0"/>
                  </a:cubicBezTo>
                  <a:close/>
                </a:path>
              </a:pathLst>
            </a:custGeom>
            <a:solidFill>
              <a:srgbClr val="FFFFFF"/>
            </a:solidFill>
            <a:ln w="38100" cap="rnd">
              <a:solidFill>
                <a:srgbClr val="6299E4"/>
              </a:solidFill>
              <a:prstDash val="solid"/>
              <a:round/>
            </a:ln>
          </p:spPr>
        </p:sp>
        <p:sp>
          <p:nvSpPr>
            <p:cNvPr id="28" name="TextBox 28"/>
            <p:cNvSpPr txBox="1"/>
            <p:nvPr/>
          </p:nvSpPr>
          <p:spPr>
            <a:xfrm>
              <a:off x="0" y="-47625"/>
              <a:ext cx="2536360" cy="529257"/>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10417174" y="3787456"/>
            <a:ext cx="5954548" cy="399282"/>
          </a:xfrm>
          <a:prstGeom prst="rect">
            <a:avLst/>
          </a:prstGeom>
        </p:spPr>
        <p:txBody>
          <a:bodyPr lIns="0" tIns="0" rIns="0" bIns="0" rtlCol="0" anchor="t">
            <a:spAutoFit/>
          </a:bodyPr>
          <a:lstStyle/>
          <a:p>
            <a:pPr algn="l">
              <a:lnSpc>
                <a:spcPts val="3191"/>
              </a:lnSpc>
              <a:spcBef>
                <a:spcPct val="0"/>
              </a:spcBef>
            </a:pPr>
            <a:r>
              <a:rPr lang="en-US" sz="2279">
                <a:solidFill>
                  <a:srgbClr val="194A8D"/>
                </a:solidFill>
                <a:latin typeface="Arimo"/>
                <a:ea typeface="Arimo"/>
                <a:cs typeface="Arimo"/>
                <a:sym typeface="Arimo"/>
              </a:rPr>
              <a:t>✅ Reduces hallucination.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4874B0">
                <a:alpha val="100000"/>
              </a:srgbClr>
            </a:gs>
            <a:gs pos="100000">
              <a:srgbClr val="053371">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633877" y="-554823"/>
            <a:ext cx="19639468" cy="5698323"/>
            <a:chOff x="0" y="0"/>
            <a:chExt cx="5172535" cy="1500793"/>
          </a:xfrm>
        </p:grpSpPr>
        <p:sp>
          <p:nvSpPr>
            <p:cNvPr id="3" name="Freeform 3"/>
            <p:cNvSpPr/>
            <p:nvPr/>
          </p:nvSpPr>
          <p:spPr>
            <a:xfrm>
              <a:off x="0" y="0"/>
              <a:ext cx="5172535" cy="1500793"/>
            </a:xfrm>
            <a:custGeom>
              <a:avLst/>
              <a:gdLst/>
              <a:ahLst/>
              <a:cxnLst/>
              <a:rect l="l" t="t" r="r" b="b"/>
              <a:pathLst>
                <a:path w="5172535" h="1500793">
                  <a:moveTo>
                    <a:pt x="0" y="0"/>
                  </a:moveTo>
                  <a:lnTo>
                    <a:pt x="5172535" y="0"/>
                  </a:lnTo>
                  <a:lnTo>
                    <a:pt x="5172535" y="1500793"/>
                  </a:lnTo>
                  <a:lnTo>
                    <a:pt x="0" y="1500793"/>
                  </a:lnTo>
                  <a:close/>
                </a:path>
              </a:pathLst>
            </a:custGeom>
            <a:solidFill>
              <a:srgbClr val="FFFFFF"/>
            </a:solidFill>
          </p:spPr>
        </p:sp>
        <p:sp>
          <p:nvSpPr>
            <p:cNvPr id="4" name="TextBox 4"/>
            <p:cNvSpPr txBox="1"/>
            <p:nvPr/>
          </p:nvSpPr>
          <p:spPr>
            <a:xfrm>
              <a:off x="0" y="-47625"/>
              <a:ext cx="5172535" cy="1548418"/>
            </a:xfrm>
            <a:prstGeom prst="rect">
              <a:avLst/>
            </a:prstGeom>
          </p:spPr>
          <p:txBody>
            <a:bodyPr lIns="50800" tIns="50800" rIns="50800" bIns="50800" rtlCol="0" anchor="ctr"/>
            <a:lstStyle/>
            <a:p>
              <a:pPr algn="ctr">
                <a:lnSpc>
                  <a:spcPts val="2659"/>
                </a:lnSpc>
              </a:pPr>
              <a:r>
                <a:rPr lang="en-US" sz="1899">
                  <a:solidFill>
                    <a:srgbClr val="FFFFFF"/>
                  </a:solidFill>
                  <a:latin typeface="Arimo"/>
                  <a:ea typeface="Arimo"/>
                  <a:cs typeface="Arimo"/>
                  <a:sym typeface="Arimo"/>
                </a:rPr>
                <a:t> </a:t>
              </a:r>
            </a:p>
          </p:txBody>
        </p:sp>
      </p:grpSp>
      <p:sp>
        <p:nvSpPr>
          <p:cNvPr id="5" name="Freeform 5"/>
          <p:cNvSpPr/>
          <p:nvPr/>
        </p:nvSpPr>
        <p:spPr>
          <a:xfrm>
            <a:off x="-297830" y="-1579357"/>
            <a:ext cx="19484227" cy="12835235"/>
          </a:xfrm>
          <a:custGeom>
            <a:avLst/>
            <a:gdLst/>
            <a:ahLst/>
            <a:cxnLst/>
            <a:rect l="l" t="t" r="r" b="b"/>
            <a:pathLst>
              <a:path w="19484227" h="12835235">
                <a:moveTo>
                  <a:pt x="0" y="0"/>
                </a:moveTo>
                <a:lnTo>
                  <a:pt x="19484227" y="0"/>
                </a:lnTo>
                <a:lnTo>
                  <a:pt x="19484227" y="12835234"/>
                </a:lnTo>
                <a:lnTo>
                  <a:pt x="0" y="12835234"/>
                </a:lnTo>
                <a:lnTo>
                  <a:pt x="0" y="0"/>
                </a:lnTo>
                <a:close/>
              </a:path>
            </a:pathLst>
          </a:custGeom>
          <a:blipFill>
            <a:blip r:embed="rId2">
              <a:alphaModFix amt="20999"/>
            </a:blip>
            <a:stretch>
              <a:fillRect/>
            </a:stretch>
          </a:blipFill>
        </p:spPr>
      </p:sp>
      <p:grpSp>
        <p:nvGrpSpPr>
          <p:cNvPr id="6" name="Group 6"/>
          <p:cNvGrpSpPr/>
          <p:nvPr/>
        </p:nvGrpSpPr>
        <p:grpSpPr>
          <a:xfrm>
            <a:off x="1187324" y="1028700"/>
            <a:ext cx="7956676" cy="5348144"/>
            <a:chOff x="0" y="0"/>
            <a:chExt cx="2095586" cy="1408565"/>
          </a:xfrm>
        </p:grpSpPr>
        <p:sp>
          <p:nvSpPr>
            <p:cNvPr id="7" name="Freeform 7"/>
            <p:cNvSpPr/>
            <p:nvPr/>
          </p:nvSpPr>
          <p:spPr>
            <a:xfrm>
              <a:off x="0" y="0"/>
              <a:ext cx="2095585" cy="1408565"/>
            </a:xfrm>
            <a:custGeom>
              <a:avLst/>
              <a:gdLst/>
              <a:ahLst/>
              <a:cxnLst/>
              <a:rect l="l" t="t" r="r" b="b"/>
              <a:pathLst>
                <a:path w="2095585" h="1408565">
                  <a:moveTo>
                    <a:pt x="0" y="0"/>
                  </a:moveTo>
                  <a:lnTo>
                    <a:pt x="2095585" y="0"/>
                  </a:lnTo>
                  <a:lnTo>
                    <a:pt x="2095585" y="1408565"/>
                  </a:lnTo>
                  <a:lnTo>
                    <a:pt x="0" y="1408565"/>
                  </a:lnTo>
                  <a:close/>
                </a:path>
              </a:pathLst>
            </a:custGeom>
            <a:solidFill>
              <a:srgbClr val="0345E4"/>
            </a:solidFill>
          </p:spPr>
        </p:sp>
        <p:sp>
          <p:nvSpPr>
            <p:cNvPr id="8" name="TextBox 8"/>
            <p:cNvSpPr txBox="1"/>
            <p:nvPr/>
          </p:nvSpPr>
          <p:spPr>
            <a:xfrm>
              <a:off x="0" y="-47625"/>
              <a:ext cx="2095586" cy="1456190"/>
            </a:xfrm>
            <a:prstGeom prst="rect">
              <a:avLst/>
            </a:prstGeom>
          </p:spPr>
          <p:txBody>
            <a:bodyPr lIns="50800" tIns="50800" rIns="50800" bIns="50800" rtlCol="0" anchor="ctr"/>
            <a:lstStyle/>
            <a:p>
              <a:pPr algn="ctr">
                <a:lnSpc>
                  <a:spcPts val="2659"/>
                </a:lnSpc>
              </a:pPr>
              <a:r>
                <a:rPr lang="en-US" sz="1899">
                  <a:solidFill>
                    <a:srgbClr val="FFFFFF"/>
                  </a:solidFill>
                  <a:latin typeface="Arimo"/>
                  <a:ea typeface="Arimo"/>
                  <a:cs typeface="Arimo"/>
                  <a:sym typeface="Arimo"/>
                </a:rPr>
                <a:t> </a:t>
              </a:r>
            </a:p>
          </p:txBody>
        </p:sp>
      </p:grpSp>
      <p:sp>
        <p:nvSpPr>
          <p:cNvPr id="9" name="TextBox 9"/>
          <p:cNvSpPr txBox="1"/>
          <p:nvPr/>
        </p:nvSpPr>
        <p:spPr>
          <a:xfrm>
            <a:off x="9928189" y="2399113"/>
            <a:ext cx="6988865" cy="1135783"/>
          </a:xfrm>
          <a:prstGeom prst="rect">
            <a:avLst/>
          </a:prstGeom>
        </p:spPr>
        <p:txBody>
          <a:bodyPr lIns="0" tIns="0" rIns="0" bIns="0" rtlCol="0" anchor="t">
            <a:spAutoFit/>
          </a:bodyPr>
          <a:lstStyle/>
          <a:p>
            <a:pPr algn="ctr">
              <a:lnSpc>
                <a:spcPts val="8655"/>
              </a:lnSpc>
            </a:pPr>
            <a:r>
              <a:rPr lang="en-US" sz="8165" spc="816">
                <a:solidFill>
                  <a:srgbClr val="FFFFFF"/>
                </a:solidFill>
                <a:latin typeface="League Spartan"/>
                <a:ea typeface="League Spartan"/>
                <a:cs typeface="League Spartan"/>
                <a:sym typeface="League Spartan"/>
              </a:rPr>
              <a:t>VISION</a:t>
            </a:r>
          </a:p>
        </p:txBody>
      </p:sp>
      <p:grpSp>
        <p:nvGrpSpPr>
          <p:cNvPr id="10" name="Group 10"/>
          <p:cNvGrpSpPr/>
          <p:nvPr/>
        </p:nvGrpSpPr>
        <p:grpSpPr>
          <a:xfrm>
            <a:off x="9444283" y="1028700"/>
            <a:ext cx="7956676" cy="5348144"/>
            <a:chOff x="0" y="0"/>
            <a:chExt cx="2095586" cy="1408565"/>
          </a:xfrm>
        </p:grpSpPr>
        <p:sp>
          <p:nvSpPr>
            <p:cNvPr id="11" name="Freeform 11"/>
            <p:cNvSpPr/>
            <p:nvPr/>
          </p:nvSpPr>
          <p:spPr>
            <a:xfrm>
              <a:off x="0" y="0"/>
              <a:ext cx="2095585" cy="1408565"/>
            </a:xfrm>
            <a:custGeom>
              <a:avLst/>
              <a:gdLst/>
              <a:ahLst/>
              <a:cxnLst/>
              <a:rect l="l" t="t" r="r" b="b"/>
              <a:pathLst>
                <a:path w="2095585" h="1408565">
                  <a:moveTo>
                    <a:pt x="0" y="0"/>
                  </a:moveTo>
                  <a:lnTo>
                    <a:pt x="2095585" y="0"/>
                  </a:lnTo>
                  <a:lnTo>
                    <a:pt x="2095585" y="1408565"/>
                  </a:lnTo>
                  <a:lnTo>
                    <a:pt x="0" y="1408565"/>
                  </a:lnTo>
                  <a:close/>
                </a:path>
              </a:pathLst>
            </a:custGeom>
            <a:solidFill>
              <a:srgbClr val="0345E4"/>
            </a:solidFill>
          </p:spPr>
        </p:sp>
        <p:sp>
          <p:nvSpPr>
            <p:cNvPr id="12" name="TextBox 12"/>
            <p:cNvSpPr txBox="1"/>
            <p:nvPr/>
          </p:nvSpPr>
          <p:spPr>
            <a:xfrm>
              <a:off x="0" y="-47625"/>
              <a:ext cx="2095586" cy="1456190"/>
            </a:xfrm>
            <a:prstGeom prst="rect">
              <a:avLst/>
            </a:prstGeom>
          </p:spPr>
          <p:txBody>
            <a:bodyPr lIns="50800" tIns="50800" rIns="50800" bIns="50800" rtlCol="0" anchor="ctr"/>
            <a:lstStyle/>
            <a:p>
              <a:pPr algn="ctr">
                <a:lnSpc>
                  <a:spcPts val="2659"/>
                </a:lnSpc>
              </a:pPr>
              <a:r>
                <a:rPr lang="en-US" sz="1899">
                  <a:solidFill>
                    <a:srgbClr val="FFFFFF"/>
                  </a:solidFill>
                  <a:latin typeface="Arimo"/>
                  <a:ea typeface="Arimo"/>
                  <a:cs typeface="Arimo"/>
                  <a:sym typeface="Arimo"/>
                </a:rPr>
                <a:t> </a:t>
              </a:r>
            </a:p>
          </p:txBody>
        </p:sp>
      </p:grpSp>
      <p:sp>
        <p:nvSpPr>
          <p:cNvPr id="13" name="TextBox 13"/>
          <p:cNvSpPr txBox="1"/>
          <p:nvPr/>
        </p:nvSpPr>
        <p:spPr>
          <a:xfrm>
            <a:off x="1671230" y="1750273"/>
            <a:ext cx="6988865" cy="809093"/>
          </a:xfrm>
          <a:prstGeom prst="rect">
            <a:avLst/>
          </a:prstGeom>
        </p:spPr>
        <p:txBody>
          <a:bodyPr lIns="0" tIns="0" rIns="0" bIns="0" rtlCol="0" anchor="t">
            <a:spAutoFit/>
          </a:bodyPr>
          <a:lstStyle/>
          <a:p>
            <a:pPr algn="ctr">
              <a:lnSpc>
                <a:spcPts val="6217"/>
              </a:lnSpc>
            </a:pPr>
            <a:r>
              <a:rPr lang="en-US" sz="5865" spc="586">
                <a:solidFill>
                  <a:srgbClr val="FFFFFF"/>
                </a:solidFill>
                <a:latin typeface="League Spartan"/>
                <a:ea typeface="League Spartan"/>
                <a:cs typeface="League Spartan"/>
                <a:sym typeface="League Spartan"/>
              </a:rPr>
              <a:t>LET’S SEE</a:t>
            </a:r>
          </a:p>
        </p:txBody>
      </p:sp>
      <p:sp>
        <p:nvSpPr>
          <p:cNvPr id="14" name="TextBox 14"/>
          <p:cNvSpPr txBox="1"/>
          <p:nvPr/>
        </p:nvSpPr>
        <p:spPr>
          <a:xfrm>
            <a:off x="2331547" y="3528622"/>
            <a:ext cx="775991" cy="613637"/>
          </a:xfrm>
          <a:prstGeom prst="rect">
            <a:avLst/>
          </a:prstGeom>
        </p:spPr>
        <p:txBody>
          <a:bodyPr lIns="0" tIns="0" rIns="0" bIns="0" rtlCol="0" anchor="t">
            <a:spAutoFit/>
          </a:bodyPr>
          <a:lstStyle/>
          <a:p>
            <a:pPr algn="l">
              <a:lnSpc>
                <a:spcPts val="4680"/>
              </a:lnSpc>
            </a:pPr>
            <a:r>
              <a:rPr lang="en-US" sz="4415" spc="441">
                <a:solidFill>
                  <a:srgbClr val="FFFFFF">
                    <a:alpha val="43922"/>
                  </a:srgbClr>
                </a:solidFill>
                <a:latin typeface="League Spartan"/>
                <a:ea typeface="League Spartan"/>
                <a:cs typeface="League Spartan"/>
                <a:sym typeface="League Spartan"/>
              </a:rPr>
              <a:t>01</a:t>
            </a:r>
          </a:p>
        </p:txBody>
      </p:sp>
      <p:sp>
        <p:nvSpPr>
          <p:cNvPr id="15" name="TextBox 15"/>
          <p:cNvSpPr txBox="1"/>
          <p:nvPr/>
        </p:nvSpPr>
        <p:spPr>
          <a:xfrm>
            <a:off x="9818639" y="1750273"/>
            <a:ext cx="7440661" cy="809093"/>
          </a:xfrm>
          <a:prstGeom prst="rect">
            <a:avLst/>
          </a:prstGeom>
        </p:spPr>
        <p:txBody>
          <a:bodyPr lIns="0" tIns="0" rIns="0" bIns="0" rtlCol="0" anchor="t">
            <a:spAutoFit/>
          </a:bodyPr>
          <a:lstStyle/>
          <a:p>
            <a:pPr algn="ctr">
              <a:lnSpc>
                <a:spcPts val="6217"/>
              </a:lnSpc>
            </a:pPr>
            <a:r>
              <a:rPr lang="en-US" sz="5865" spc="586">
                <a:solidFill>
                  <a:srgbClr val="FFFFFF"/>
                </a:solidFill>
                <a:latin typeface="League Spartan"/>
                <a:ea typeface="League Spartan"/>
                <a:cs typeface="League Spartan"/>
                <a:sym typeface="League Spartan"/>
              </a:rPr>
              <a:t>THE DEMO</a:t>
            </a:r>
          </a:p>
        </p:txBody>
      </p:sp>
      <p:sp>
        <p:nvSpPr>
          <p:cNvPr id="16" name="TextBox 16"/>
          <p:cNvSpPr txBox="1"/>
          <p:nvPr/>
        </p:nvSpPr>
        <p:spPr>
          <a:xfrm>
            <a:off x="3498063" y="3498174"/>
            <a:ext cx="5370203" cy="388516"/>
          </a:xfrm>
          <a:prstGeom prst="rect">
            <a:avLst/>
          </a:prstGeom>
        </p:spPr>
        <p:txBody>
          <a:bodyPr lIns="0" tIns="0" rIns="0" bIns="0" rtlCol="0" anchor="t">
            <a:spAutoFit/>
          </a:bodyPr>
          <a:lstStyle/>
          <a:p>
            <a:pPr algn="l">
              <a:lnSpc>
                <a:spcPts val="3091"/>
              </a:lnSpc>
              <a:spcBef>
                <a:spcPct val="0"/>
              </a:spcBef>
            </a:pPr>
            <a:r>
              <a:rPr lang="en-US" sz="2207">
                <a:solidFill>
                  <a:srgbClr val="FFFFFF"/>
                </a:solidFill>
                <a:latin typeface="Arimo"/>
                <a:ea typeface="Arimo"/>
                <a:cs typeface="Arimo"/>
                <a:sym typeface="Arimo"/>
              </a:rPr>
              <a:t>Uploading a PDF.</a:t>
            </a:r>
          </a:p>
        </p:txBody>
      </p:sp>
      <p:sp>
        <p:nvSpPr>
          <p:cNvPr id="17" name="TextBox 17"/>
          <p:cNvSpPr txBox="1"/>
          <p:nvPr/>
        </p:nvSpPr>
        <p:spPr>
          <a:xfrm>
            <a:off x="2331547" y="4718745"/>
            <a:ext cx="913417" cy="572654"/>
          </a:xfrm>
          <a:prstGeom prst="rect">
            <a:avLst/>
          </a:prstGeom>
        </p:spPr>
        <p:txBody>
          <a:bodyPr lIns="0" tIns="0" rIns="0" bIns="0" rtlCol="0" anchor="t">
            <a:spAutoFit/>
          </a:bodyPr>
          <a:lstStyle/>
          <a:p>
            <a:pPr algn="l">
              <a:lnSpc>
                <a:spcPts val="4327"/>
              </a:lnSpc>
            </a:pPr>
            <a:r>
              <a:rPr lang="en-US" sz="4082" spc="408">
                <a:solidFill>
                  <a:srgbClr val="FFFFFF">
                    <a:alpha val="43922"/>
                  </a:srgbClr>
                </a:solidFill>
                <a:latin typeface="League Spartan"/>
                <a:ea typeface="League Spartan"/>
                <a:cs typeface="League Spartan"/>
                <a:sym typeface="League Spartan"/>
              </a:rPr>
              <a:t>02</a:t>
            </a:r>
          </a:p>
        </p:txBody>
      </p:sp>
      <p:sp>
        <p:nvSpPr>
          <p:cNvPr id="18" name="TextBox 18"/>
          <p:cNvSpPr txBox="1"/>
          <p:nvPr/>
        </p:nvSpPr>
        <p:spPr>
          <a:xfrm>
            <a:off x="3498063" y="4615427"/>
            <a:ext cx="5370203" cy="388516"/>
          </a:xfrm>
          <a:prstGeom prst="rect">
            <a:avLst/>
          </a:prstGeom>
        </p:spPr>
        <p:txBody>
          <a:bodyPr lIns="0" tIns="0" rIns="0" bIns="0" rtlCol="0" anchor="t">
            <a:spAutoFit/>
          </a:bodyPr>
          <a:lstStyle/>
          <a:p>
            <a:pPr algn="l">
              <a:lnSpc>
                <a:spcPts val="3091"/>
              </a:lnSpc>
              <a:spcBef>
                <a:spcPct val="0"/>
              </a:spcBef>
            </a:pPr>
            <a:r>
              <a:rPr lang="en-US" sz="2207">
                <a:solidFill>
                  <a:srgbClr val="FFFFFF"/>
                </a:solidFill>
                <a:latin typeface="Arimo"/>
                <a:ea typeface="Arimo"/>
                <a:cs typeface="Arimo"/>
                <a:sym typeface="Arimo"/>
              </a:rPr>
              <a:t>Getting a summary.</a:t>
            </a:r>
          </a:p>
        </p:txBody>
      </p:sp>
      <p:sp>
        <p:nvSpPr>
          <p:cNvPr id="19" name="TextBox 19"/>
          <p:cNvSpPr txBox="1"/>
          <p:nvPr/>
        </p:nvSpPr>
        <p:spPr>
          <a:xfrm>
            <a:off x="10588681" y="3519097"/>
            <a:ext cx="913417" cy="627496"/>
          </a:xfrm>
          <a:prstGeom prst="rect">
            <a:avLst/>
          </a:prstGeom>
        </p:spPr>
        <p:txBody>
          <a:bodyPr lIns="0" tIns="0" rIns="0" bIns="0" rtlCol="0" anchor="t">
            <a:spAutoFit/>
          </a:bodyPr>
          <a:lstStyle/>
          <a:p>
            <a:pPr algn="l">
              <a:lnSpc>
                <a:spcPts val="4710"/>
              </a:lnSpc>
            </a:pPr>
            <a:r>
              <a:rPr lang="en-US" sz="4443" spc="444">
                <a:solidFill>
                  <a:srgbClr val="FFFFFF">
                    <a:alpha val="43922"/>
                  </a:srgbClr>
                </a:solidFill>
                <a:latin typeface="League Spartan"/>
                <a:ea typeface="League Spartan"/>
                <a:cs typeface="League Spartan"/>
                <a:sym typeface="League Spartan"/>
              </a:rPr>
              <a:t>03</a:t>
            </a:r>
          </a:p>
        </p:txBody>
      </p:sp>
      <p:sp>
        <p:nvSpPr>
          <p:cNvPr id="20" name="TextBox 20"/>
          <p:cNvSpPr txBox="1"/>
          <p:nvPr/>
        </p:nvSpPr>
        <p:spPr>
          <a:xfrm>
            <a:off x="11889097" y="3498174"/>
            <a:ext cx="5370203" cy="388516"/>
          </a:xfrm>
          <a:prstGeom prst="rect">
            <a:avLst/>
          </a:prstGeom>
        </p:spPr>
        <p:txBody>
          <a:bodyPr lIns="0" tIns="0" rIns="0" bIns="0" rtlCol="0" anchor="t">
            <a:spAutoFit/>
          </a:bodyPr>
          <a:lstStyle/>
          <a:p>
            <a:pPr algn="l">
              <a:lnSpc>
                <a:spcPts val="3091"/>
              </a:lnSpc>
              <a:spcBef>
                <a:spcPct val="0"/>
              </a:spcBef>
            </a:pPr>
            <a:r>
              <a:rPr lang="en-US" sz="2207">
                <a:solidFill>
                  <a:srgbClr val="FFFFFF"/>
                </a:solidFill>
                <a:latin typeface="Arimo"/>
                <a:ea typeface="Arimo"/>
                <a:cs typeface="Arimo"/>
                <a:sym typeface="Arimo"/>
              </a:rPr>
              <a:t>Asking legal questions.</a:t>
            </a:r>
          </a:p>
        </p:txBody>
      </p:sp>
      <p:sp>
        <p:nvSpPr>
          <p:cNvPr id="21" name="TextBox 21"/>
          <p:cNvSpPr txBox="1"/>
          <p:nvPr/>
        </p:nvSpPr>
        <p:spPr>
          <a:xfrm>
            <a:off x="10588681" y="4741436"/>
            <a:ext cx="913417" cy="572640"/>
          </a:xfrm>
          <a:prstGeom prst="rect">
            <a:avLst/>
          </a:prstGeom>
        </p:spPr>
        <p:txBody>
          <a:bodyPr lIns="0" tIns="0" rIns="0" bIns="0" rtlCol="0" anchor="t">
            <a:spAutoFit/>
          </a:bodyPr>
          <a:lstStyle/>
          <a:p>
            <a:pPr algn="l">
              <a:lnSpc>
                <a:spcPts val="4327"/>
              </a:lnSpc>
            </a:pPr>
            <a:r>
              <a:rPr lang="en-US" sz="4082" spc="408">
                <a:solidFill>
                  <a:srgbClr val="FFFFFF">
                    <a:alpha val="43922"/>
                  </a:srgbClr>
                </a:solidFill>
                <a:latin typeface="League Spartan"/>
                <a:ea typeface="League Spartan"/>
                <a:cs typeface="League Spartan"/>
                <a:sym typeface="League Spartan"/>
              </a:rPr>
              <a:t>04</a:t>
            </a:r>
          </a:p>
        </p:txBody>
      </p:sp>
      <p:sp>
        <p:nvSpPr>
          <p:cNvPr id="22" name="TextBox 22"/>
          <p:cNvSpPr txBox="1"/>
          <p:nvPr/>
        </p:nvSpPr>
        <p:spPr>
          <a:xfrm>
            <a:off x="11889097" y="4781110"/>
            <a:ext cx="5370203" cy="388516"/>
          </a:xfrm>
          <a:prstGeom prst="rect">
            <a:avLst/>
          </a:prstGeom>
        </p:spPr>
        <p:txBody>
          <a:bodyPr lIns="0" tIns="0" rIns="0" bIns="0" rtlCol="0" anchor="t">
            <a:spAutoFit/>
          </a:bodyPr>
          <a:lstStyle/>
          <a:p>
            <a:pPr algn="l">
              <a:lnSpc>
                <a:spcPts val="3091"/>
              </a:lnSpc>
              <a:spcBef>
                <a:spcPct val="0"/>
              </a:spcBef>
            </a:pPr>
            <a:r>
              <a:rPr lang="en-US" sz="2207">
                <a:solidFill>
                  <a:srgbClr val="FFFFFF"/>
                </a:solidFill>
                <a:latin typeface="Arimo"/>
                <a:ea typeface="Arimo"/>
                <a:cs typeface="Arimo"/>
                <a:sym typeface="Arimo"/>
              </a:rPr>
              <a:t>Searching for a lawyer.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07455" y="8685287"/>
            <a:ext cx="17185873" cy="47625"/>
          </a:xfrm>
          <a:prstGeom prst="line">
            <a:avLst/>
          </a:prstGeom>
          <a:ln w="47625" cap="flat">
            <a:solidFill>
              <a:srgbClr val="000000">
                <a:alpha val="29804"/>
              </a:srgbClr>
            </a:solidFill>
            <a:prstDash val="solid"/>
            <a:headEnd type="none" w="sm" len="sm"/>
            <a:tailEnd type="none" w="sm" len="sm"/>
          </a:ln>
        </p:spPr>
      </p:sp>
      <p:sp>
        <p:nvSpPr>
          <p:cNvPr id="3" name="AutoShape 3"/>
          <p:cNvSpPr/>
          <p:nvPr/>
        </p:nvSpPr>
        <p:spPr>
          <a:xfrm flipH="1">
            <a:off x="15865740" y="2713642"/>
            <a:ext cx="0" cy="7222650"/>
          </a:xfrm>
          <a:prstGeom prst="line">
            <a:avLst/>
          </a:prstGeom>
          <a:ln w="47625" cap="flat">
            <a:solidFill>
              <a:srgbClr val="000000">
                <a:alpha val="29804"/>
              </a:srgbClr>
            </a:solidFill>
            <a:prstDash val="solid"/>
            <a:headEnd type="none" w="sm" len="sm"/>
            <a:tailEnd type="none" w="sm" len="sm"/>
          </a:ln>
        </p:spPr>
      </p:sp>
      <p:sp>
        <p:nvSpPr>
          <p:cNvPr id="4" name="AutoShape 4"/>
          <p:cNvSpPr/>
          <p:nvPr/>
        </p:nvSpPr>
        <p:spPr>
          <a:xfrm>
            <a:off x="1028700" y="3329671"/>
            <a:ext cx="1310100" cy="0"/>
          </a:xfrm>
          <a:prstGeom prst="line">
            <a:avLst/>
          </a:prstGeom>
          <a:ln w="95250" cap="flat">
            <a:solidFill>
              <a:srgbClr val="0345E4"/>
            </a:solidFill>
            <a:prstDash val="solid"/>
            <a:headEnd type="none" w="sm" len="sm"/>
            <a:tailEnd type="none" w="sm" len="sm"/>
          </a:ln>
        </p:spPr>
      </p:sp>
      <p:sp>
        <p:nvSpPr>
          <p:cNvPr id="5" name="Freeform 5"/>
          <p:cNvSpPr/>
          <p:nvPr/>
        </p:nvSpPr>
        <p:spPr>
          <a:xfrm>
            <a:off x="15841928" y="847822"/>
            <a:ext cx="1059324" cy="873943"/>
          </a:xfrm>
          <a:custGeom>
            <a:avLst/>
            <a:gdLst/>
            <a:ahLst/>
            <a:cxnLst/>
            <a:rect l="l" t="t" r="r" b="b"/>
            <a:pathLst>
              <a:path w="1059324" h="873943">
                <a:moveTo>
                  <a:pt x="0" y="0"/>
                </a:moveTo>
                <a:lnTo>
                  <a:pt x="1059324" y="0"/>
                </a:lnTo>
                <a:lnTo>
                  <a:pt x="1059324" y="873943"/>
                </a:lnTo>
                <a:lnTo>
                  <a:pt x="0" y="8739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028700" y="1951390"/>
            <a:ext cx="10769833" cy="854126"/>
          </a:xfrm>
          <a:prstGeom prst="rect">
            <a:avLst/>
          </a:prstGeom>
        </p:spPr>
        <p:txBody>
          <a:bodyPr lIns="0" tIns="0" rIns="0" bIns="0" rtlCol="0" anchor="t">
            <a:spAutoFit/>
          </a:bodyPr>
          <a:lstStyle/>
          <a:p>
            <a:pPr algn="l">
              <a:lnSpc>
                <a:spcPts val="6999"/>
              </a:lnSpc>
            </a:pPr>
            <a:r>
              <a:rPr lang="en-US" sz="4999" b="1" spc="99">
                <a:solidFill>
                  <a:srgbClr val="000000"/>
                </a:solidFill>
                <a:latin typeface="Garet Bold"/>
                <a:ea typeface="Garet Bold"/>
                <a:cs typeface="Garet Bold"/>
                <a:sym typeface="Garet Bold"/>
              </a:rPr>
              <a:t>CONCLUSION</a:t>
            </a:r>
          </a:p>
        </p:txBody>
      </p:sp>
      <p:sp>
        <p:nvSpPr>
          <p:cNvPr id="7" name="TextBox 7"/>
          <p:cNvSpPr txBox="1"/>
          <p:nvPr/>
        </p:nvSpPr>
        <p:spPr>
          <a:xfrm>
            <a:off x="2670502" y="4190020"/>
            <a:ext cx="11069981" cy="3704984"/>
          </a:xfrm>
          <a:prstGeom prst="rect">
            <a:avLst/>
          </a:prstGeom>
        </p:spPr>
        <p:txBody>
          <a:bodyPr lIns="0" tIns="0" rIns="0" bIns="0" rtlCol="0" anchor="t">
            <a:spAutoFit/>
          </a:bodyPr>
          <a:lstStyle/>
          <a:p>
            <a:pPr marL="496571" lvl="1" indent="-248285" algn="just">
              <a:lnSpc>
                <a:spcPts val="5014"/>
              </a:lnSpc>
              <a:buFont typeface="Arial"/>
              <a:buChar char="•"/>
            </a:pPr>
            <a:r>
              <a:rPr lang="en-US" sz="2300">
                <a:solidFill>
                  <a:srgbClr val="000000"/>
                </a:solidFill>
                <a:latin typeface="Open Sans"/>
                <a:ea typeface="Open Sans"/>
                <a:cs typeface="Open Sans"/>
                <a:sym typeface="Open Sans"/>
              </a:rPr>
              <a:t>AI Legal Assistant = RAG + LLM + Legal Knowledge Base</a:t>
            </a:r>
          </a:p>
          <a:p>
            <a:pPr marL="496571" lvl="1" indent="-248285" algn="just">
              <a:lnSpc>
                <a:spcPts val="5014"/>
              </a:lnSpc>
              <a:buFont typeface="Arial"/>
              <a:buChar char="•"/>
            </a:pPr>
            <a:r>
              <a:rPr lang="en-US" sz="2300">
                <a:solidFill>
                  <a:srgbClr val="000000"/>
                </a:solidFill>
                <a:latin typeface="Open Sans"/>
                <a:ea typeface="Open Sans"/>
                <a:cs typeface="Open Sans"/>
                <a:sym typeface="Open Sans"/>
              </a:rPr>
              <a:t>Helps people understand legal documents easily</a:t>
            </a:r>
          </a:p>
          <a:p>
            <a:pPr marL="496571" lvl="1" indent="-248285" algn="just">
              <a:lnSpc>
                <a:spcPts val="5014"/>
              </a:lnSpc>
              <a:buFont typeface="Arial"/>
              <a:buChar char="•"/>
            </a:pPr>
            <a:r>
              <a:rPr lang="en-US" sz="2300">
                <a:solidFill>
                  <a:srgbClr val="000000"/>
                </a:solidFill>
                <a:latin typeface="Open Sans"/>
                <a:ea typeface="Open Sans"/>
                <a:cs typeface="Open Sans"/>
                <a:sym typeface="Open Sans"/>
              </a:rPr>
              <a:t>Provides quick, accurate, simple legal information</a:t>
            </a:r>
          </a:p>
          <a:p>
            <a:pPr marL="496571" lvl="1" indent="-248285" algn="just">
              <a:lnSpc>
                <a:spcPts val="5014"/>
              </a:lnSpc>
              <a:buFont typeface="Arial"/>
              <a:buChar char="•"/>
            </a:pPr>
            <a:r>
              <a:rPr lang="en-US" sz="2300">
                <a:solidFill>
                  <a:srgbClr val="000000"/>
                </a:solidFill>
                <a:latin typeface="Open Sans"/>
                <a:ea typeface="Open Sans"/>
                <a:cs typeface="Open Sans"/>
                <a:sym typeface="Open Sans"/>
              </a:rPr>
              <a:t>Bridges gap between legal knowledge and common citizens</a:t>
            </a:r>
          </a:p>
          <a:p>
            <a:pPr marL="496571" lvl="1" indent="-248285" algn="just">
              <a:lnSpc>
                <a:spcPts val="5014"/>
              </a:lnSpc>
              <a:buFont typeface="Arial"/>
              <a:buChar char="•"/>
            </a:pPr>
            <a:r>
              <a:rPr lang="en-US" sz="2300">
                <a:solidFill>
                  <a:srgbClr val="000000"/>
                </a:solidFill>
                <a:latin typeface="Open Sans"/>
                <a:ea typeface="Open Sans"/>
                <a:cs typeface="Open Sans"/>
                <a:sym typeface="Open Sans"/>
              </a:rPr>
              <a:t>Future expansion possible into more domains</a:t>
            </a:r>
          </a:p>
          <a:p>
            <a:pPr marL="0" lvl="0" indent="0" algn="just">
              <a:lnSpc>
                <a:spcPts val="5014"/>
              </a:lnSpc>
            </a:pPr>
            <a:endParaRPr lang="en-US" sz="2300">
              <a:solidFill>
                <a:srgbClr val="000000"/>
              </a:solidFill>
              <a:latin typeface="Open Sans"/>
              <a:ea typeface="Open Sans"/>
              <a:cs typeface="Open Sans"/>
              <a:sym typeface="Open Sans"/>
            </a:endParaRPr>
          </a:p>
        </p:txBody>
      </p:sp>
      <p:grpSp>
        <p:nvGrpSpPr>
          <p:cNvPr id="8" name="Group 8"/>
          <p:cNvGrpSpPr/>
          <p:nvPr/>
        </p:nvGrpSpPr>
        <p:grpSpPr>
          <a:xfrm>
            <a:off x="16371590" y="9076583"/>
            <a:ext cx="669452" cy="66945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8709419" y="-2174505"/>
            <a:ext cx="3744615" cy="374461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42469" y="0"/>
            <a:ext cx="5416831" cy="12022429"/>
            <a:chOff x="0" y="0"/>
            <a:chExt cx="2858770" cy="6344920"/>
          </a:xfrm>
        </p:grpSpPr>
        <p:sp>
          <p:nvSpPr>
            <p:cNvPr id="3" name="Freeform 3"/>
            <p:cNvSpPr/>
            <p:nvPr/>
          </p:nvSpPr>
          <p:spPr>
            <a:xfrm>
              <a:off x="0" y="0"/>
              <a:ext cx="2858770" cy="6344920"/>
            </a:xfrm>
            <a:custGeom>
              <a:avLst/>
              <a:gdLst/>
              <a:ahLst/>
              <a:cxnLst/>
              <a:rect l="l" t="t" r="r" b="b"/>
              <a:pathLst>
                <a:path w="2858770" h="634492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03496" r="-129630"/>
              </a:stretch>
            </a:blipFill>
          </p:spPr>
        </p:sp>
      </p:grpSp>
      <p:grpSp>
        <p:nvGrpSpPr>
          <p:cNvPr id="4" name="Group 4"/>
          <p:cNvGrpSpPr/>
          <p:nvPr/>
        </p:nvGrpSpPr>
        <p:grpSpPr>
          <a:xfrm>
            <a:off x="17259300" y="7109187"/>
            <a:ext cx="1028700" cy="3177813"/>
            <a:chOff x="0" y="0"/>
            <a:chExt cx="812800" cy="2510865"/>
          </a:xfrm>
        </p:grpSpPr>
        <p:sp>
          <p:nvSpPr>
            <p:cNvPr id="5" name="Freeform 5"/>
            <p:cNvSpPr/>
            <p:nvPr/>
          </p:nvSpPr>
          <p:spPr>
            <a:xfrm>
              <a:off x="0" y="0"/>
              <a:ext cx="812800" cy="2510865"/>
            </a:xfrm>
            <a:custGeom>
              <a:avLst/>
              <a:gdLst/>
              <a:ahLst/>
              <a:cxnLst/>
              <a:rect l="l" t="t" r="r" b="b"/>
              <a:pathLst>
                <a:path w="812800" h="2510865">
                  <a:moveTo>
                    <a:pt x="0" y="0"/>
                  </a:moveTo>
                  <a:lnTo>
                    <a:pt x="812800" y="0"/>
                  </a:lnTo>
                  <a:lnTo>
                    <a:pt x="812800" y="2510865"/>
                  </a:lnTo>
                  <a:lnTo>
                    <a:pt x="0" y="2510865"/>
                  </a:lnTo>
                  <a:close/>
                </a:path>
              </a:pathLst>
            </a:custGeom>
            <a:solidFill>
              <a:srgbClr val="0345E4"/>
            </a:solidFill>
          </p:spPr>
        </p:sp>
        <p:sp>
          <p:nvSpPr>
            <p:cNvPr id="6" name="TextBox 6"/>
            <p:cNvSpPr txBox="1"/>
            <p:nvPr/>
          </p:nvSpPr>
          <p:spPr>
            <a:xfrm>
              <a:off x="0" y="-38100"/>
              <a:ext cx="812800" cy="2548965"/>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7109187"/>
            <a:ext cx="11842469" cy="3177813"/>
            <a:chOff x="0" y="0"/>
            <a:chExt cx="9357013" cy="2510865"/>
          </a:xfrm>
        </p:grpSpPr>
        <p:sp>
          <p:nvSpPr>
            <p:cNvPr id="8" name="Freeform 8"/>
            <p:cNvSpPr/>
            <p:nvPr/>
          </p:nvSpPr>
          <p:spPr>
            <a:xfrm>
              <a:off x="0" y="0"/>
              <a:ext cx="9357013" cy="2510865"/>
            </a:xfrm>
            <a:custGeom>
              <a:avLst/>
              <a:gdLst/>
              <a:ahLst/>
              <a:cxnLst/>
              <a:rect l="l" t="t" r="r" b="b"/>
              <a:pathLst>
                <a:path w="9357013" h="2510865">
                  <a:moveTo>
                    <a:pt x="0" y="0"/>
                  </a:moveTo>
                  <a:lnTo>
                    <a:pt x="9357013" y="0"/>
                  </a:lnTo>
                  <a:lnTo>
                    <a:pt x="9357013" y="2510865"/>
                  </a:lnTo>
                  <a:lnTo>
                    <a:pt x="0" y="2510865"/>
                  </a:lnTo>
                  <a:close/>
                </a:path>
              </a:pathLst>
            </a:custGeom>
            <a:solidFill>
              <a:srgbClr val="F6F6F6"/>
            </a:solidFill>
          </p:spPr>
        </p:sp>
        <p:sp>
          <p:nvSpPr>
            <p:cNvPr id="9" name="TextBox 9"/>
            <p:cNvSpPr txBox="1"/>
            <p:nvPr/>
          </p:nvSpPr>
          <p:spPr>
            <a:xfrm>
              <a:off x="0" y="-38100"/>
              <a:ext cx="9357013" cy="254896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17259300" y="0"/>
            <a:ext cx="1028700" cy="1028700"/>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0345E4"/>
            </a:solidFill>
          </p:spPr>
        </p:sp>
        <p:sp>
          <p:nvSpPr>
            <p:cNvPr id="12" name="TextBox 12"/>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609914" y="0"/>
            <a:ext cx="1694792" cy="10287000"/>
            <a:chOff x="0" y="0"/>
            <a:chExt cx="446365" cy="2709333"/>
          </a:xfrm>
        </p:grpSpPr>
        <p:sp>
          <p:nvSpPr>
            <p:cNvPr id="14" name="Freeform 14"/>
            <p:cNvSpPr/>
            <p:nvPr/>
          </p:nvSpPr>
          <p:spPr>
            <a:xfrm>
              <a:off x="0" y="0"/>
              <a:ext cx="446365" cy="2709333"/>
            </a:xfrm>
            <a:custGeom>
              <a:avLst/>
              <a:gdLst/>
              <a:ahLst/>
              <a:cxnLst/>
              <a:rect l="l" t="t" r="r" b="b"/>
              <a:pathLst>
                <a:path w="446365" h="2709333">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id="15" name="TextBox 15"/>
            <p:cNvSpPr txBox="1"/>
            <p:nvPr/>
          </p:nvSpPr>
          <p:spPr>
            <a:xfrm>
              <a:off x="0" y="-38100"/>
              <a:ext cx="446365" cy="2747433"/>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0853887" y="786854"/>
            <a:ext cx="1977164" cy="1977164"/>
            <a:chOff x="0" y="0"/>
            <a:chExt cx="812800" cy="812800"/>
          </a:xfrm>
        </p:grpSpPr>
        <p:sp>
          <p:nvSpPr>
            <p:cNvPr id="17" name="Freeform 17"/>
            <p:cNvSpPr/>
            <p:nvPr/>
          </p:nvSpPr>
          <p:spPr>
            <a:xfrm>
              <a:off x="0" y="0"/>
              <a:ext cx="812800" cy="812800"/>
            </a:xfrm>
            <a:custGeom>
              <a:avLst/>
              <a:gdLst/>
              <a:ahLst/>
              <a:cxnLst/>
              <a:rect l="l" t="t" r="r" b="b"/>
              <a:pathLst>
                <a:path w="812800" h="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id="18" name="TextBox 18"/>
            <p:cNvSpPr txBox="1"/>
            <p:nvPr/>
          </p:nvSpPr>
          <p:spPr>
            <a:xfrm>
              <a:off x="0" y="-38100"/>
              <a:ext cx="812800" cy="850900"/>
            </a:xfrm>
            <a:prstGeom prst="rect">
              <a:avLst/>
            </a:prstGeom>
          </p:spPr>
          <p:txBody>
            <a:bodyPr lIns="50800" tIns="50800" rIns="50800" bIns="50800" rtlCol="0" anchor="ctr"/>
            <a:lstStyle/>
            <a:p>
              <a:pPr algn="ctr">
                <a:lnSpc>
                  <a:spcPts val="2659"/>
                </a:lnSpc>
              </a:pPr>
              <a:endParaRPr/>
            </a:p>
          </p:txBody>
        </p:sp>
      </p:grpSp>
      <p:sp>
        <p:nvSpPr>
          <p:cNvPr id="19" name="Freeform 19"/>
          <p:cNvSpPr/>
          <p:nvPr/>
        </p:nvSpPr>
        <p:spPr>
          <a:xfrm>
            <a:off x="1624423" y="786854"/>
            <a:ext cx="1198281" cy="988582"/>
          </a:xfrm>
          <a:custGeom>
            <a:avLst/>
            <a:gdLst/>
            <a:ahLst/>
            <a:cxnLst/>
            <a:rect l="l" t="t" r="r" b="b"/>
            <a:pathLst>
              <a:path w="1198281" h="988582">
                <a:moveTo>
                  <a:pt x="0" y="0"/>
                </a:moveTo>
                <a:lnTo>
                  <a:pt x="1198282" y="0"/>
                </a:lnTo>
                <a:lnTo>
                  <a:pt x="1198282" y="988582"/>
                </a:lnTo>
                <a:lnTo>
                  <a:pt x="0" y="98858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0" name="TextBox 20"/>
          <p:cNvSpPr txBox="1"/>
          <p:nvPr/>
        </p:nvSpPr>
        <p:spPr>
          <a:xfrm>
            <a:off x="1653503" y="4648200"/>
            <a:ext cx="8766566" cy="495300"/>
          </a:xfrm>
          <a:prstGeom prst="rect">
            <a:avLst/>
          </a:prstGeom>
        </p:spPr>
        <p:txBody>
          <a:bodyPr lIns="0" tIns="0" rIns="0" bIns="0" rtlCol="0" anchor="t">
            <a:spAutoFit/>
          </a:bodyPr>
          <a:lstStyle/>
          <a:p>
            <a:pPr algn="l">
              <a:lnSpc>
                <a:spcPts val="4199"/>
              </a:lnSpc>
            </a:pPr>
            <a:r>
              <a:rPr lang="en-US" sz="2999" spc="299">
                <a:solidFill>
                  <a:srgbClr val="000000"/>
                </a:solidFill>
                <a:latin typeface="Garet"/>
                <a:ea typeface="Garet"/>
                <a:cs typeface="Garet"/>
                <a:sym typeface="Garet"/>
              </a:rPr>
              <a:t>FOR YOUR ATTENTION</a:t>
            </a:r>
          </a:p>
        </p:txBody>
      </p:sp>
      <p:sp>
        <p:nvSpPr>
          <p:cNvPr id="21" name="TextBox 21"/>
          <p:cNvSpPr txBox="1"/>
          <p:nvPr/>
        </p:nvSpPr>
        <p:spPr>
          <a:xfrm>
            <a:off x="1624423" y="3135538"/>
            <a:ext cx="8795646" cy="1523365"/>
          </a:xfrm>
          <a:prstGeom prst="rect">
            <a:avLst/>
          </a:prstGeom>
        </p:spPr>
        <p:txBody>
          <a:bodyPr lIns="0" tIns="0" rIns="0" bIns="0" rtlCol="0" anchor="t">
            <a:spAutoFit/>
          </a:bodyPr>
          <a:lstStyle/>
          <a:p>
            <a:pPr algn="l">
              <a:lnSpc>
                <a:spcPts val="11960"/>
              </a:lnSpc>
            </a:pPr>
            <a:r>
              <a:rPr lang="en-US" sz="10400" b="1">
                <a:solidFill>
                  <a:srgbClr val="000000"/>
                </a:solidFill>
                <a:latin typeface="Garet Bold"/>
                <a:ea typeface="Garet Bold"/>
                <a:cs typeface="Garet Bold"/>
                <a:sym typeface="Garet Bold"/>
              </a:rPr>
              <a:t>THANK YOU</a:t>
            </a:r>
          </a:p>
        </p:txBody>
      </p:sp>
      <p:grpSp>
        <p:nvGrpSpPr>
          <p:cNvPr id="22" name="Group 22"/>
          <p:cNvGrpSpPr/>
          <p:nvPr/>
        </p:nvGrpSpPr>
        <p:grpSpPr>
          <a:xfrm>
            <a:off x="8484493" y="9014056"/>
            <a:ext cx="2545888" cy="254588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925</Words>
  <Application>Microsoft Office PowerPoint</Application>
  <PresentationFormat>Custom</PresentationFormat>
  <Paragraphs>189</Paragraphs>
  <Slides>17</Slides>
  <Notes>1</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17</vt:i4>
      </vt:variant>
    </vt:vector>
  </HeadingPairs>
  <TitlesOfParts>
    <vt:vector size="37" baseType="lpstr">
      <vt:lpstr>Open Sauce Italics</vt:lpstr>
      <vt:lpstr>TT Firs Neue Bold</vt:lpstr>
      <vt:lpstr>League Spartan</vt:lpstr>
      <vt:lpstr>Helvetica World Italics</vt:lpstr>
      <vt:lpstr>Bookman Old Style</vt:lpstr>
      <vt:lpstr>Times New Roman</vt:lpstr>
      <vt:lpstr>Open Sans Semi-Bold</vt:lpstr>
      <vt:lpstr>Garet</vt:lpstr>
      <vt:lpstr>TT Firs Neue</vt:lpstr>
      <vt:lpstr>Open Sans</vt:lpstr>
      <vt:lpstr>TT Firs Neue Bold Italics</vt:lpstr>
      <vt:lpstr>Franklin Gothic</vt:lpstr>
      <vt:lpstr>Garet Bold</vt:lpstr>
      <vt:lpstr>Poppins</vt:lpstr>
      <vt:lpstr>Arial</vt:lpstr>
      <vt:lpstr>Arimo</vt:lpstr>
      <vt:lpstr>Helvetica World Bold</vt:lpstr>
      <vt:lpstr>Calibri</vt:lpstr>
      <vt:lpstr>Libre Franklin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Business proposal</dc:title>
  <cp:lastModifiedBy>Sanket Chopade</cp:lastModifiedBy>
  <cp:revision>11</cp:revision>
  <dcterms:created xsi:type="dcterms:W3CDTF">2006-08-16T00:00:00Z</dcterms:created>
  <dcterms:modified xsi:type="dcterms:W3CDTF">2026-05-20T12:33:48Z</dcterms:modified>
  <dc:identifier>DAG5KJHhCiE</dc:identifier>
</cp:coreProperties>
</file>