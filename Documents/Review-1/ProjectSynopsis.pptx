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2" r:id="rId4"/>
    <p:sldId id="260" r:id="rId5"/>
    <p:sldId id="261" r:id="rId6"/>
    <p:sldId id="263" r:id="rId7"/>
    <p:sldId id="264" r:id="rId8"/>
    <p:sldId id="265" r:id="rId9"/>
  </p:sldIdLst>
  <p:sldSz cx="12192000" cy="6858000"/>
  <p:notesSz cx="6858000" cy="9144000"/>
  <p:embeddedFontLst>
    <p:embeddedFont>
      <p:font typeface="Franklin Gothic" panose="020B0604020202020204" charset="0"/>
      <p:bold r:id="rId11"/>
    </p:embeddedFont>
    <p:embeddedFont>
      <p:font typeface="Libre Franklin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0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94013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69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5816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5459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3723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3278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100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877825" y="13208"/>
            <a:ext cx="10936758" cy="290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</a:t>
            </a:r>
            <a:b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</a:br>
            <a:b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</a:b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College of Engineering Karad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Institute of Government of Maharashtra)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/>
            <a:endParaRPr lang="en-US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Information Technology Department</a:t>
            </a:r>
          </a:p>
          <a:p>
            <a:pPr marL="0" lvl="0" indent="0" algn="ctr"/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Final Year B. Tech.  [SEM VII]</a:t>
            </a:r>
            <a:endParaRPr lang="en-US" sz="2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800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800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indent="0"/>
            <a:r>
              <a:rPr lang="en-US" sz="2800" dirty="0">
                <a:solidFill>
                  <a:srgbClr val="4609F3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1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665" y="406400"/>
            <a:ext cx="1762717" cy="13647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A5B607-614F-A61D-211A-F78D53B54757}"/>
              </a:ext>
            </a:extLst>
          </p:cNvPr>
          <p:cNvSpPr txBox="1"/>
          <p:nvPr/>
        </p:nvSpPr>
        <p:spPr>
          <a:xfrm>
            <a:off x="3081528" y="3555004"/>
            <a:ext cx="8933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2800" b="1" dirty="0">
                <a:solidFill>
                  <a:srgbClr val="4609F3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Seminar Title: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LEGAL ASSISTANT USING RAG</a:t>
            </a:r>
            <a:endParaRPr lang="en-US" sz="3600" b="1" dirty="0">
              <a:solidFill>
                <a:srgbClr val="4609F3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872E5-4E8A-E5CB-D729-A603B9BF6F83}"/>
              </a:ext>
            </a:extLst>
          </p:cNvPr>
          <p:cNvSpPr txBox="1"/>
          <p:nvPr/>
        </p:nvSpPr>
        <p:spPr>
          <a:xfrm>
            <a:off x="5715000" y="4573107"/>
            <a:ext cx="64129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/>
            <a:r>
              <a:rPr lang="en-US" sz="1600" b="1" dirty="0">
                <a:solidFill>
                  <a:srgbClr val="4609F3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Student Name &amp; Roll No. :  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Soham Sunil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Malvadkar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(22141229)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2) Sanket Nivas Chopade (22141234)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3)  Abhijeet Vilas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Ganjave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(22141236)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         4) Akash Anada Khot (22141244)</a:t>
            </a:r>
          </a:p>
          <a:p>
            <a:pPr marL="0" lvl="0" indent="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5) Sanket NandKumar Adake (22143248)</a:t>
            </a:r>
            <a:r>
              <a:rPr lang="en-US" dirty="0">
                <a:solidFill>
                  <a:srgbClr val="4609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r>
              <a:rPr lang="en-US" sz="1600" b="1" dirty="0">
                <a:solidFill>
                  <a:srgbClr val="4609F3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Guide Name :  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Dr. S. A. Thorat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Background &amp; Motivation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13755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Legal research is time-consuming (hours → seconds)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Common people struggle with complex legal jargon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Traditional chatbots hallucinate wrong laws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Limited access to affordable legal consultation</a:t>
            </a:r>
          </a:p>
          <a:p>
            <a:pPr latinLnBrk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: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Democratize legal knowledge access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Bridge the gap between legal experts and common people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Provide 24/7 accurate legal assistance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/ Existing Approaches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06209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: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 Traditional Search Engines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Generic information, not case-specific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No contextual understanding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  Basic Chatbots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Hallucinate legal information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No citation of actual laws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Limited to training data cutoff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Manual Legal Research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Time-consuming (hours/days)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Requires legal expertise</a:t>
            </a:r>
          </a:p>
          <a:p>
            <a:pPr latinLnBrk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Costly for common people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99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Proposed Work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13755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:</a:t>
            </a:r>
          </a:p>
          <a:p>
            <a:pPr latinLnBrk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✅ Develop AI system that reads real legal documents</a:t>
            </a:r>
          </a:p>
          <a:p>
            <a:pPr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✅ Provide accurate, cited legal answers</a:t>
            </a:r>
          </a:p>
          <a:p>
            <a:pPr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✅ Create simple explanations of complex laws</a:t>
            </a:r>
          </a:p>
          <a:p>
            <a:pPr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✅ Ensure data privacy and security</a:t>
            </a:r>
          </a:p>
          <a:p>
            <a:pPr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✅ Support multiple document formats</a:t>
            </a:r>
          </a:p>
          <a:p>
            <a:pPr latinLnBrk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✅ Enable conversational memory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5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009586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062100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DOCUMENT PROCESSING -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PDF/text extraction with OCR support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Intelligent chunking (1000-word segments)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Vector embeddings generation</a:t>
            </a: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38;p4">
            <a:extLst>
              <a:ext uri="{FF2B5EF4-FFF2-40B4-BE49-F238E27FC236}">
                <a16:creationId xmlns:a16="http://schemas.microsoft.com/office/drawing/2014/main" id="{95E08610-B34C-2A3D-789A-92B6B31FBA01}"/>
              </a:ext>
            </a:extLst>
          </p:cNvPr>
          <p:cNvSpPr txBox="1">
            <a:spLocks/>
          </p:cNvSpPr>
          <p:nvPr/>
        </p:nvSpPr>
        <p:spPr>
          <a:xfrm>
            <a:off x="3935823" y="4274948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RESPONSE GENERATION -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for legal summarization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Citation of exact law sections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Simple language translation</a:t>
            </a: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38;p4">
            <a:extLst>
              <a:ext uri="{FF2B5EF4-FFF2-40B4-BE49-F238E27FC236}">
                <a16:creationId xmlns:a16="http://schemas.microsoft.com/office/drawing/2014/main" id="{254A6610-5FB6-2B5F-ECD7-60625F353A7D}"/>
              </a:ext>
            </a:extLst>
          </p:cNvPr>
          <p:cNvSpPr txBox="1">
            <a:spLocks/>
          </p:cNvSpPr>
          <p:nvPr/>
        </p:nvSpPr>
        <p:spPr>
          <a:xfrm>
            <a:off x="6096000" y="2075944"/>
            <a:ext cx="4814985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RETRIEVAL SYSTEM -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FAISS for lightning-fast similarity search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Context-aware document retrieval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Relevance scoring</a:t>
            </a:r>
          </a:p>
          <a:p>
            <a:pPr latinLnBrk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32D260E-E391-7F33-E1A8-D2B19703CE41}"/>
              </a:ext>
            </a:extLst>
          </p:cNvPr>
          <p:cNvSpPr/>
          <p:nvPr/>
        </p:nvSpPr>
        <p:spPr>
          <a:xfrm>
            <a:off x="5657088" y="3008376"/>
            <a:ext cx="524256" cy="237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40CBB15-8579-8E19-0CEC-5A232B28240F}"/>
              </a:ext>
            </a:extLst>
          </p:cNvPr>
          <p:cNvSpPr/>
          <p:nvPr/>
        </p:nvSpPr>
        <p:spPr>
          <a:xfrm rot="8290677">
            <a:off x="6863128" y="4257376"/>
            <a:ext cx="502025" cy="2316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419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1154413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399188"/>
            <a:ext cx="5097575" cy="3579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atinLnBrk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Python 3.8+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FAISS library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access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Internet connection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38;p4">
            <a:extLst>
              <a:ext uri="{FF2B5EF4-FFF2-40B4-BE49-F238E27FC236}">
                <a16:creationId xmlns:a16="http://schemas.microsoft.com/office/drawing/2014/main" id="{EC49733B-FC6E-5E14-8AC0-B2C22DB200D7}"/>
              </a:ext>
            </a:extLst>
          </p:cNvPr>
          <p:cNvSpPr txBox="1">
            <a:spLocks/>
          </p:cNvSpPr>
          <p:nvPr/>
        </p:nvSpPr>
        <p:spPr>
          <a:xfrm>
            <a:off x="6011954" y="2457512"/>
            <a:ext cx="3945862" cy="3579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latinLnBrk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: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Minimum 4GB RAM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2GB storage space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Modern web browser</a:t>
            </a:r>
          </a:p>
          <a:p>
            <a:pPr latinLnBrk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Stable internet connection</a:t>
            </a:r>
          </a:p>
        </p:txBody>
      </p:sp>
    </p:spTree>
    <p:extLst>
      <p:ext uri="{BB962C8B-B14F-4D97-AF65-F5344CB8AC3E}">
        <p14:creationId xmlns:p14="http://schemas.microsoft.com/office/powerpoint/2010/main" val="377067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744566" y="2193036"/>
            <a:ext cx="7132320" cy="3289971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 Session 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545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C2BD-F8EA-3883-6A09-FE03C923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83" y="495015"/>
            <a:ext cx="3745137" cy="190785"/>
          </a:xfrm>
        </p:spPr>
        <p:txBody>
          <a:bodyPr>
            <a:noAutofit/>
          </a:bodyPr>
          <a:lstStyle/>
          <a:p>
            <a:r>
              <a:rPr lang="en-US" sz="2800" dirty="0"/>
              <a:t>User Interface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C7E37-CBDA-CF62-CEAC-FA8C660B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988552"/>
            <a:ext cx="10533888" cy="537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0026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443</Words>
  <Application>Microsoft Office PowerPoint</Application>
  <PresentationFormat>Widescreen</PresentationFormat>
  <Paragraphs>80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Times New Roman</vt:lpstr>
      <vt:lpstr>Libre Franklin</vt:lpstr>
      <vt:lpstr>Calibri</vt:lpstr>
      <vt:lpstr>Noto Sans Symbols</vt:lpstr>
      <vt:lpstr>Arial</vt:lpstr>
      <vt:lpstr>Franklin Gothic</vt:lpstr>
      <vt:lpstr>Theme1</vt:lpstr>
      <vt:lpstr>PowerPoint Presentation</vt:lpstr>
      <vt:lpstr>Problem Statement Background &amp; Motivation </vt:lpstr>
      <vt:lpstr>Literature Survey / Existing Approaches </vt:lpstr>
      <vt:lpstr>Objectives of Proposed Work </vt:lpstr>
      <vt:lpstr>Methodology</vt:lpstr>
      <vt:lpstr>Hardware and Software Required</vt:lpstr>
      <vt:lpstr>Q&amp;A Session   Thank You</vt:lpstr>
      <vt:lpstr>User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Sanket Chopade</cp:lastModifiedBy>
  <cp:revision>12</cp:revision>
  <dcterms:created xsi:type="dcterms:W3CDTF">2022-02-11T07:14:46Z</dcterms:created>
  <dcterms:modified xsi:type="dcterms:W3CDTF">2025-09-24T10:25:48Z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